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开场先定调：这不是三个孤立的聊天机器人，而是一套可复用的智能运营平台，面向三个行业场景使用独立数据和接口。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培训不是让销售背功能表，而是形成完整动作：发现痛点—选择智能体—演示证据—推动下一步。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销售表达：客户买的是统一智能运营能力，首期可只落一个场景，后续复用平台扩展其他场景。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不要一上来讲大模型参数。先问客户跨系统查一个问题需要多久、谁来整理、是否能追溯来源。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类比数字值班员：他不凭记忆报数字，而是去正确系统查数据，再用管理者听得懂的方式回答。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客户问是否替换现有系统：明确回答不替换。智能体通过标准接口调用现有能力，降低重复建设。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强调隔离价值：减少串场、误调用和数据越权；正式项目还可叠加用户、角色、字段级权限与审计。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不要宣称替代临床决策。定位为运营与流程协同工具，医疗诊疗仍由专业人员负责。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每个问题先让客户猜需要打开几个系统，再展示一句自然语言得到结果。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核心业务是人与资产定位，但销售不要只卖定位硬件，要卖定位数据与作业、安全、设备运营的关联价值。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演示顺序建议固定，避免随机问答。定位—作业票—报警—可视化，四步最容易形成完整价值感。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楼宇数据模型依据调研清单构造。演示数据用于说明接口能力，正式项目需要完成真实系统接口映射。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优先选择客户熟悉的楼宇设备或告警问题，让客户看到智能体不是做大屏，而是降低运营分析门槛。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这是公司核心业务页。把定位作为数据底座和切入口，但强调后续价值来自与医疗流程、作业票、楼宇运营的深度结合。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每次演示结束必须约定下一步材料：系统清单、接口负责人、试点区域、验收问题集。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销售至少拿到：系统清单、问题清单、数据负责人、部署边界、决策链和时间计划。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演示的稳定性高于花哨程度。每一个展示结果都应能回答：数据从哪里来、为什么可信、下一步能做什么。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不要用绝对化承诺，例如零幻觉、百分之百准确、无需实施。强调机制、边界和可验证性。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具体周期与报价以接口数量、数据质量、权限体系、部署环境和定制范围评估为准。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售前把演示问题沉淀为验收问题集，可直接连接产品、实施、测试和客户验收。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竞争对比时不要只比模型名称和参数。把讨论拉回业务接口、数据治理、部署安全、定位基础和交付验收。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培训结尾要求每位销售选一个目标客户，完成场景、痛点、黄金问题、试点范围和下一步动作五项作业。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演示时先指出顶部智能体切换，再介绍下方医疗快捷问题和独立历史会话。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这页重点展示人员安全场景最完整的能力入口，以及系统、Telegram、模型和工具调用状态。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强调同一交互框架切换到楼宇后，主题、快捷问题、业务接口和会话均随场景改变。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19920000">
            <a:off x="8046720" y="-274320"/>
            <a:ext cx="3931920" cy="1417320"/>
          </a:xfrm>
          <a:prstGeom prst="round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19920000">
            <a:off x="8705088" y="228600"/>
            <a:ext cx="3931920" cy="1417320"/>
          </a:xfrm>
          <a:prstGeom prst="round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19920000">
            <a:off x="9363456" y="731520"/>
            <a:ext cx="3931920" cy="1417320"/>
          </a:xfrm>
          <a:prstGeom prst="round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841248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600" b="1">
                <a:solidFill>
                  <a:srgbClr val="F4F8FA"/>
                </a:solidFill>
                <a:latin typeface="Microsoft YaHei"/>
              </a:rPr>
              <a:t>三智能体智能运营中心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395728"/>
            <a:ext cx="73152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100" b="1">
                <a:solidFill>
                  <a:srgbClr val="39D2C0"/>
                </a:solidFill>
                <a:latin typeface="Microsoft YaHei"/>
              </a:rPr>
              <a:t>医疗 × 人员安全 × 政企楼宇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999232"/>
            <a:ext cx="4846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900" b="1">
                <a:solidFill>
                  <a:srgbClr val="F2AE3D"/>
                </a:solidFill>
                <a:latin typeface="Microsoft YaHei"/>
              </a:rPr>
              <a:t>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703320"/>
            <a:ext cx="78638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9DB2BD"/>
                </a:solidFill>
                <a:latin typeface="Microsoft YaHei"/>
              </a:rPr>
              <a:t>从客户痛点、产品价值到演示成交的一套统一话术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800600"/>
            <a:ext cx="1627632" cy="438912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910328"/>
            <a:ext cx="155448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52A9E8"/>
                </a:solidFill>
                <a:latin typeface="Microsoft YaHei"/>
              </a:rPr>
              <a:t>医疗运营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87752" y="4800600"/>
            <a:ext cx="1627632" cy="438912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4327" y="4910328"/>
            <a:ext cx="155448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F2AE3D"/>
                </a:solidFill>
                <a:latin typeface="Microsoft YaHei"/>
              </a:rPr>
              <a:t>人员安全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4800600"/>
            <a:ext cx="1627632" cy="438912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4910328"/>
            <a:ext cx="1554480" cy="1920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50" b="1">
                <a:solidFill>
                  <a:srgbClr val="39D2C0"/>
                </a:solidFill>
                <a:latin typeface="Microsoft YaHei"/>
              </a:rPr>
              <a:t>政企楼宇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6163056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50" b="0">
                <a:solidFill>
                  <a:srgbClr val="607C89"/>
                </a:solidFill>
                <a:latin typeface="Microsoft YaHei"/>
              </a:rPr>
              <a:t>PRE-SALES &amp; SALES ENABLEMENT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培训结束后，销售要能做到四件事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不要求讲深技术，但必须把价值、边界和演示路径讲清楚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5230368" cy="17373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572768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554480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讲得清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57400"/>
            <a:ext cx="4901183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用一分钟说清三智能体是什么、为什么不是普通聊天机器人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17320"/>
            <a:ext cx="5230368" cy="17373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64224" y="157276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554480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找得准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057400"/>
            <a:ext cx="4901183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识别客户角色、业务痛点、现有系统和可落地切入口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19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69296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2AE3D"/>
                </a:solidFill>
                <a:latin typeface="Microsoft YaHei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57600"/>
            <a:ext cx="5230368" cy="17373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" y="3813048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3794760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演得稳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297680"/>
            <a:ext cx="4901183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用固定问题展示接口调用、数据隔离、定位与可视化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380390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384505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39D2C0"/>
                </a:solidFill>
                <a:latin typeface="Microsoft YaHei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657600"/>
            <a:ext cx="5230368" cy="17373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64224" y="3813048"/>
            <a:ext cx="64008" cy="347472"/>
          </a:xfrm>
          <a:prstGeom prst="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794760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推得动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297680"/>
            <a:ext cx="4901183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从演示推进到接口调研、试点范围、预算与实施计划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32719" y="380390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69296" y="384505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5C98D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一套平台，三个行业智能体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交互体验一致，业务接口、数据与会话记忆按场景隔离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17320"/>
            <a:ext cx="3456432" cy="32461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554480"/>
            <a:ext cx="29992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医疗智能体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3127248" cy="2496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患者/医护定位
急诊绿通与超时
医疗资产与能效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1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独立场景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069080"/>
            <a:ext cx="3090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4F8FA"/>
                </a:solidFill>
                <a:latin typeface="Microsoft YaHei"/>
              </a:rPr>
              <a:t>自然语言提问 → 对应业务接口 → 可核验结果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417320"/>
            <a:ext cx="3456432" cy="32461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53712" y="157276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8304" y="1554480"/>
            <a:ext cx="29992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人员安全智能体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057400"/>
            <a:ext cx="3127248" cy="2496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人员/资产定位
考勤门禁与作业票
报警与预测维护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8272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2AE3D"/>
                </a:solidFill>
                <a:latin typeface="Microsoft YaHei"/>
              </a:rPr>
              <a:t>独立场景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069080"/>
            <a:ext cx="3090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4F8FA"/>
                </a:solidFill>
                <a:latin typeface="Microsoft YaHei"/>
              </a:rPr>
              <a:t>自然语言提问 → 对应业务接口 → 可核验结果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47888" y="1417320"/>
            <a:ext cx="3456432" cy="32461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94192" y="1572768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1554480"/>
            <a:ext cx="29992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政企楼宇智能体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057400"/>
            <a:ext cx="3127248" cy="2496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人员/资产定位
能源空调与机电
安防消防与维保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88751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25328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39D2C0"/>
                </a:solidFill>
                <a:latin typeface="Microsoft YaHei"/>
              </a:rPr>
              <a:t>独立场景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4069080"/>
            <a:ext cx="3090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4F8FA"/>
                </a:solidFill>
                <a:latin typeface="Microsoft YaHei"/>
              </a:rPr>
              <a:t>自然语言提问 → 对应业务接口 → 可核验结果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5074920"/>
            <a:ext cx="9509760" cy="658368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5285232"/>
            <a:ext cx="9052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9D2C0"/>
                </a:solidFill>
                <a:latin typeface="Microsoft YaHei"/>
              </a:rPr>
              <a:t>共同底座：统一交互｜工具编排｜模型切换｜权限审计｜图表与定位可视化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客户不是缺系统，而是缺少统一决策入口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从“系统建设”转向“把已有系统用起来”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27048"/>
            <a:ext cx="64008" cy="347472"/>
          </a:xfrm>
          <a:prstGeom prst="rect">
            <a:avLst/>
          </a:prstGeom>
          <a:solidFill>
            <a:srgbClr val="EF6A6A"/>
          </a:solidFill>
          <a:ln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508760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系统多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不同系统反复登录，查询链路长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4" y="151790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55905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EF6A6A"/>
                </a:solidFill>
                <a:latin typeface="Microsoft YaHei"/>
              </a:rPr>
              <a:t>痛点1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35424" y="1527048"/>
            <a:ext cx="64008" cy="347472"/>
          </a:xfrm>
          <a:prstGeom prst="rect">
            <a:avLst/>
          </a:prstGeom>
          <a:solidFill>
            <a:srgbClr val="EF6A6A"/>
          </a:solidFill>
          <a:ln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1508760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数据散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01168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人员、设备、事件难以关联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1695" y="151790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48271" y="155905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EF6A6A"/>
                </a:solidFill>
                <a:latin typeface="Microsoft YaHei"/>
              </a:rPr>
              <a:t>痛点2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1" y="137160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57615" y="1527048"/>
            <a:ext cx="64008" cy="347472"/>
          </a:xfrm>
          <a:prstGeom prst="rect">
            <a:avLst/>
          </a:prstGeom>
          <a:solidFill>
            <a:srgbClr val="EF6A6A"/>
          </a:solidFill>
          <a:ln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7" y="1508760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告警多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5903" y="201168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只报异常，缺少优先级和处置建议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33887" y="151790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70463" y="155905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EF6A6A"/>
                </a:solidFill>
                <a:latin typeface="Microsoft YaHei"/>
              </a:rPr>
              <a:t>痛点3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2044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67588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3657600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汇报慢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临时报表靠人工导出拼接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9504" y="366674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3707891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2AE3D"/>
                </a:solidFill>
                <a:latin typeface="Microsoft YaHei"/>
              </a:rPr>
              <a:t>痛点4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52044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35424" y="367588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0016" y="3657600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使用难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16052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一线人员记不住菜单和字段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11695" y="366674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48271" y="3707891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2AE3D"/>
                </a:solidFill>
                <a:latin typeface="Microsoft YaHei"/>
              </a:rPr>
              <a:t>痛点5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11311" y="352044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57615" y="367588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7" y="3657600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数据敏感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3" y="416052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核心业务不能无边界上云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33887" y="366674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70463" y="3707891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2AE3D"/>
                </a:solidFill>
                <a:latin typeface="Microsoft YaHei"/>
              </a:rPr>
              <a:t>痛点6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650992"/>
            <a:ext cx="10789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2AE3D"/>
                </a:solidFill>
                <a:latin typeface="Microsoft YaHei"/>
              </a:rPr>
              <a:t>销售切入句：保留客户现有系统，用一个可以直接提问的智能入口连接它们。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智能体怎么工作：像一个懂业务的数字值班员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听懂问题、找到系统、调用接口、组织答案，四步完成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691640"/>
            <a:ext cx="2423160" cy="28803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25295" y="1353312"/>
            <a:ext cx="822960" cy="822960"/>
          </a:xfrm>
          <a:prstGeom prst="round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5" y="1545336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07131D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202082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4F8FA"/>
                </a:solidFill>
                <a:latin typeface="Microsoft YaHei"/>
              </a:rPr>
              <a:t>听懂问题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16352"/>
            <a:ext cx="1874519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判断用户是在问位置、告警、能耗还是流程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89504" y="3063240"/>
            <a:ext cx="438912" cy="0"/>
          </a:xfrm>
          <a:prstGeom prst="line">
            <a:avLst/>
          </a:prstGeom>
          <a:ln w="27940">
            <a:solidFill>
              <a:srgbClr val="52A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3280" y="1691640"/>
            <a:ext cx="2423160" cy="28803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69664" y="1353312"/>
            <a:ext cx="822960" cy="822960"/>
          </a:xfrm>
          <a:prstGeom prst="round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9664" y="1545336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07131D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2057400"/>
            <a:ext cx="202082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4F8FA"/>
                </a:solidFill>
                <a:latin typeface="Microsoft YaHei"/>
              </a:rPr>
              <a:t>选择工具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816352"/>
            <a:ext cx="1874519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从允许的业务接口中选择正确查询能力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33872" y="3063240"/>
            <a:ext cx="438912" cy="0"/>
          </a:xfrm>
          <a:prstGeom prst="line">
            <a:avLst/>
          </a:prstGeom>
          <a:ln w="27940">
            <a:solidFill>
              <a:srgbClr val="F2A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27648" y="1691640"/>
            <a:ext cx="2423160" cy="28803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14032" y="1353312"/>
            <a:ext cx="822960" cy="822960"/>
          </a:xfrm>
          <a:prstGeom prst="round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4032" y="1545336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07131D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2057400"/>
            <a:ext cx="202082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4F8FA"/>
                </a:solidFill>
                <a:latin typeface="Microsoft YaHei"/>
              </a:rPr>
              <a:t>读取数据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2816352"/>
            <a:ext cx="1874519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调用客户现有 API/数据库，获得实时可信结果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78240" y="3063240"/>
            <a:ext cx="438912" cy="0"/>
          </a:xfrm>
          <a:prstGeom prst="line">
            <a:avLst/>
          </a:prstGeom>
          <a:ln w="27940">
            <a:solidFill>
              <a:srgbClr val="39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72016" y="1691640"/>
            <a:ext cx="2423160" cy="28803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0" y="1353312"/>
            <a:ext cx="822960" cy="822960"/>
          </a:xfrm>
          <a:prstGeom prst="round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545336"/>
            <a:ext cx="8229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07131D"/>
                </a:solidFill>
                <a:latin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73184" y="2057400"/>
            <a:ext cx="2020824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4F8FA"/>
                </a:solidFill>
                <a:latin typeface="Microsoft YaHei"/>
              </a:rPr>
              <a:t>组织答案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6336" y="2816352"/>
            <a:ext cx="1874519" cy="10058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输出结论、表格、图表、位置图或原理图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85232"/>
            <a:ext cx="108356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2AE3D"/>
                </a:solidFill>
                <a:latin typeface="Microsoft YaHei"/>
              </a:rPr>
              <a:t>关键区别：普通聊天机器人主要“生成文字”；业务智能体必须“调用工具、依据数据、留下过程”。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售前需要掌握的总体架构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从上到下讲：入口、智能、业务、接口、现场系统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1261872"/>
            <a:ext cx="10287000" cy="65836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435607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2A9E8"/>
                </a:solidFill>
                <a:latin typeface="Microsoft YaHei"/>
              </a:rPr>
              <a:t>交互入口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426463"/>
            <a:ext cx="7863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4F8FA"/>
                </a:solidFill>
                <a:latin typeface="Microsoft YaHei"/>
              </a:rPr>
              <a:t>PC 网页｜Telegram｜驾驶舱｜移动端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9904" y="1929384"/>
            <a:ext cx="0" cy="228600"/>
          </a:xfrm>
          <a:prstGeom prst="line">
            <a:avLst/>
          </a:prstGeom>
          <a:ln w="27940">
            <a:solidFill>
              <a:srgbClr val="52A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2194560"/>
            <a:ext cx="10287000" cy="658368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368296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2AE3D"/>
                </a:solidFill>
                <a:latin typeface="Microsoft YaHei"/>
              </a:rPr>
              <a:t>智能编排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359152"/>
            <a:ext cx="7863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4F8FA"/>
                </a:solidFill>
                <a:latin typeface="Microsoft YaHei"/>
              </a:rPr>
              <a:t>意图识别｜场景路由｜工具调用｜结果组织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9904" y="2862072"/>
            <a:ext cx="0" cy="228600"/>
          </a:xfrm>
          <a:prstGeom prst="line">
            <a:avLst/>
          </a:prstGeom>
          <a:ln w="27940">
            <a:solidFill>
              <a:srgbClr val="F2A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0120" y="3127248"/>
            <a:ext cx="10287000" cy="65836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300984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39D2C0"/>
                </a:solidFill>
                <a:latin typeface="Microsoft YaHei"/>
              </a:rPr>
              <a:t>三类智能体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291840"/>
            <a:ext cx="7863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4F8FA"/>
                </a:solidFill>
                <a:latin typeface="Microsoft YaHei"/>
              </a:rPr>
              <a:t>医疗｜人员安全｜政企楼宇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9904" y="3794760"/>
            <a:ext cx="0" cy="228600"/>
          </a:xfrm>
          <a:prstGeom prst="line">
            <a:avLst/>
          </a:prstGeom>
          <a:ln w="27940">
            <a:solidFill>
              <a:srgbClr val="39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0120" y="4059935"/>
            <a:ext cx="10287000" cy="658368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233672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5C98D"/>
                </a:solidFill>
                <a:latin typeface="Microsoft YaHei"/>
              </a:rPr>
              <a:t>数据接口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224527"/>
            <a:ext cx="7863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4F8FA"/>
                </a:solidFill>
                <a:latin typeface="Microsoft YaHei"/>
              </a:rPr>
              <a:t>API｜数据库｜消息总线｜文件知识库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9904" y="4727448"/>
            <a:ext cx="0" cy="228600"/>
          </a:xfrm>
          <a:prstGeom prst="line">
            <a:avLst/>
          </a:prstGeom>
          <a:ln w="27940">
            <a:solidFill>
              <a:srgbClr val="55C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0120" y="4992624"/>
            <a:ext cx="10287000" cy="65836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718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166360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718A97"/>
                </a:solidFill>
                <a:latin typeface="Microsoft YaHei"/>
              </a:rPr>
              <a:t>客户系统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157216"/>
            <a:ext cx="786384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F4F8FA"/>
                </a:solidFill>
                <a:latin typeface="Microsoft YaHei"/>
              </a:rPr>
              <a:t>定位｜门禁｜业务系统｜IoT｜能耗与设备监测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三个智能体为什么要隔离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同一平台不等于混用数据：场景工具、业务数据、会话记忆分别隔离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401568" cy="33375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664207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645919"/>
            <a:ext cx="29443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医疗命名空间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48839"/>
            <a:ext cx="3072384" cy="2587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患者、医护、设备
医疗接口白名单
医疗独立会话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655063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169621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数据隔离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508760"/>
            <a:ext cx="3401568" cy="33375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62856" y="1664207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1645919"/>
            <a:ext cx="29443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安全命名空间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148839"/>
            <a:ext cx="3072384" cy="2587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员工、承包商、资产
安全接口白名单
安全独立会话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02552" y="1655063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9128" y="169621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2AE3D"/>
                </a:solidFill>
                <a:latin typeface="Microsoft YaHei"/>
              </a:rPr>
              <a:t>数据隔离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1508760"/>
            <a:ext cx="3401568" cy="33375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5048" y="1664207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1645919"/>
            <a:ext cx="29443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楼宇命名空间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148839"/>
            <a:ext cx="3072384" cy="2587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员工、访客、设施
楼宇接口白名单
楼宇独立会话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24744" y="1655063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169621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39D2C0"/>
                </a:solidFill>
                <a:latin typeface="Microsoft YaHei"/>
              </a:rPr>
              <a:t>数据隔离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257800"/>
            <a:ext cx="10789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4F8FA"/>
                </a:solidFill>
                <a:latin typeface="Microsoft YaHei"/>
              </a:rPr>
              <a:t>共享的只有通用能力：登录入口、模型管理、表格/图表渲染和运维框架。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医疗智能体：让急诊流程与医疗资产看得见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核心购买者：急诊科、医务处、设备处、信息中心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383280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572768"/>
            <a:ext cx="64008" cy="347472"/>
          </a:xfrm>
          <a:prstGeom prst="rect">
            <a:avLst/>
          </a:prstGeom>
          <a:solidFill>
            <a:srgbClr val="EF6A6A"/>
          </a:solidFill>
          <a:ln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554480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客户痛点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57400"/>
            <a:ext cx="3054096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患者流转不透明
关键节点超时难发现
设备找不到、利用率不清
跨系统查询耗时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EF6A6A"/>
                </a:solidFill>
                <a:latin typeface="Microsoft YaHei"/>
              </a:rPr>
              <a:t>为什么买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417320"/>
            <a:ext cx="3383280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7136" y="1572768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554480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核心能力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057400"/>
            <a:ext cx="3054096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患者与医护定位
急诊绿通轨迹与停留
超时预警与通道统计
医疗资产定位、报警、能效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8544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卖什么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1417320"/>
            <a:ext cx="3383280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93608" y="1572768"/>
            <a:ext cx="64008" cy="347472"/>
          </a:xfrm>
          <a:prstGeom prst="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554480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销售价值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057400"/>
            <a:ext cx="3054096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提升急诊协同效率
缩短查找患者/设备时间
为流程优化提供数据证据
降低资产闲置与丢失风险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15015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51592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5C98D"/>
                </a:solidFill>
                <a:latin typeface="Microsoft YaHei"/>
              </a:rPr>
              <a:t>带来什么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医疗智能体演示脚本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三问建立完整故事：患者在哪里 → 是否超时 → 设备在哪里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10789920" cy="10515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2A9E8"/>
                </a:solidFill>
                <a:latin typeface="Microsoft YaHei"/>
              </a:rPr>
              <a:t>01 患者定位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581912"/>
            <a:ext cx="55778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4F8FA"/>
                </a:solidFill>
                <a:latin typeface="Microsoft YaHei"/>
              </a:rPr>
              <a:t>“张三现在在哪里？今天经过哪些区域？”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160020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实时位置 + 轨迹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10789920" cy="10515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2A9E8"/>
                </a:solidFill>
                <a:latin typeface="Microsoft YaHei"/>
              </a:rPr>
              <a:t>02 流程预警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999232"/>
            <a:ext cx="55778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4F8FA"/>
                </a:solidFill>
                <a:latin typeface="Microsoft YaHei"/>
              </a:rPr>
              <a:t>“当前抢救室有哪些停留超时患者？”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01752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超时清单 + 结论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10789920" cy="10515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1600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52A9E8"/>
                </a:solidFill>
                <a:latin typeface="Microsoft YaHei"/>
              </a:rPr>
              <a:t>03 资产运营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416552"/>
            <a:ext cx="55778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F4F8FA"/>
                </a:solidFill>
                <a:latin typeface="Microsoft YaHei"/>
              </a:rPr>
              <a:t>“输液泵 12 号在哪里？当前设备告警如何？”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434840"/>
            <a:ext cx="2423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资产定位 + 告警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79008"/>
            <a:ext cx="10698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2AE3D"/>
                </a:solidFill>
                <a:latin typeface="Microsoft YaHei"/>
              </a:rPr>
              <a:t>演示收口：从“找人找设备”扩展到“流程效率与资产运营”。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人员安全智能体：围绕人、地、票、警形成闭环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核心购买者：安全管理部、生产运营部、设备部、数字化部门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383280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572768"/>
            <a:ext cx="64008" cy="347472"/>
          </a:xfrm>
          <a:prstGeom prst="rect">
            <a:avLst/>
          </a:prstGeom>
          <a:solidFill>
            <a:srgbClr val="EF6A6A"/>
          </a:solidFill>
          <a:ln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554480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客户痛点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57400"/>
            <a:ext cx="3054096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人员位置难确认
承包商过程难监管
作业票与轨迹割裂
报警多、处置优先级不清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EF6A6A"/>
                </a:solidFill>
                <a:latin typeface="Microsoft YaHei"/>
              </a:rPr>
              <a:t>为什么买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417320"/>
            <a:ext cx="3383280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7136" y="157276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554480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核心能力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057400"/>
            <a:ext cx="3054096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人员与生产资产定位
电子围栏、考勤与门禁
作业票合规和有效工时
报警分析与预测性维护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8544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2AE3D"/>
                </a:solidFill>
                <a:latin typeface="Microsoft YaHei"/>
              </a:rPr>
              <a:t>卖什么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1417320"/>
            <a:ext cx="3383280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93608" y="1572768"/>
            <a:ext cx="64008" cy="347472"/>
          </a:xfrm>
          <a:prstGeom prst="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554480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销售价值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057400"/>
            <a:ext cx="3054096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提升应急找人效率
让高风险作业可追溯
识别承包商与疲劳风险
推动设备风险前置管理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15015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51592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5C98D"/>
                </a:solidFill>
                <a:latin typeface="Microsoft YaHei"/>
              </a:rPr>
              <a:t>带来什么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人员安全智能体演示脚本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从单点查询进入业务闭环，再展示可视化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61872"/>
            <a:ext cx="10881360" cy="84124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19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AE3D"/>
                </a:solidFill>
                <a:latin typeface="Microsoft YaHei"/>
              </a:rPr>
              <a:t>01 找人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399031"/>
            <a:ext cx="6080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4F8FA"/>
                </a:solidFill>
                <a:latin typeface="Microsoft YaHei"/>
              </a:rPr>
              <a:t>“张伟现在在哪里？今天有哪些区域停留？”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417319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定位 + 轨迹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04872"/>
            <a:ext cx="10881360" cy="84124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60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AE3D"/>
                </a:solidFill>
                <a:latin typeface="Microsoft YaHei"/>
              </a:rPr>
              <a:t>02 查作业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542032"/>
            <a:ext cx="6080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4F8FA"/>
                </a:solidFill>
                <a:latin typeface="Microsoft YaHei"/>
              </a:rPr>
              <a:t>“今天高风险作业票有哪些，合规情况如何？”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560320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作业票 + 合规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47872"/>
            <a:ext cx="10881360" cy="84124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AE3D"/>
                </a:solidFill>
                <a:latin typeface="Microsoft YaHei"/>
              </a:rPr>
              <a:t>03 看风险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685032"/>
            <a:ext cx="6080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4F8FA"/>
                </a:solidFill>
                <a:latin typeface="Microsoft YaHei"/>
              </a:rPr>
              <a:t>“当前有哪些未处理报警？哪些人员需优先关注？”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03320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报警 + 排序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90872"/>
            <a:ext cx="10881360" cy="84124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15087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AE3D"/>
                </a:solidFill>
                <a:latin typeface="Microsoft YaHei"/>
              </a:rPr>
              <a:t>04 做展示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828032"/>
            <a:ext cx="60807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4F8FA"/>
                </a:solidFill>
                <a:latin typeface="Microsoft YaHei"/>
              </a:rPr>
              <a:t>“生成报警柱状图 / 画人员安全原理图。”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846320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图表 + ComfyUI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744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9DB2BD"/>
                </a:solidFill>
                <a:latin typeface="Microsoft YaHei"/>
              </a:rPr>
              <a:t>触发词要明确：柱状图/折线图/饼图调用图表；原理图/示意图/架构图调用 ComfyUI。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政企楼宇智能体：统一机电、能源、安防与服务运营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核心购买者：行政后勤、物业公司、能源管理、信息中心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17320"/>
            <a:ext cx="3383280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" y="1572768"/>
            <a:ext cx="64008" cy="347472"/>
          </a:xfrm>
          <a:prstGeom prst="rect">
            <a:avLst/>
          </a:prstGeom>
          <a:solidFill>
            <a:srgbClr val="EF6A6A"/>
          </a:solidFill>
          <a:ln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554480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客户痛点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57400"/>
            <a:ext cx="3054096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楼宇子系统数量多
能耗与设备状态分散
告警难统一排序
巡检维保依赖人工经验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EF6A6A"/>
                </a:solidFill>
                <a:latin typeface="Microsoft YaHei"/>
              </a:rPr>
              <a:t>为什么买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417320"/>
            <a:ext cx="3383280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7136" y="1572768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554480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核心能力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057400"/>
            <a:ext cx="3054096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人员与设施资产定位
电力、空调、水务、照明
停车、电梯、安防、消防
告警研判与维护台账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8544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39D2C0"/>
                </a:solidFill>
                <a:latin typeface="Microsoft YaHei"/>
              </a:rPr>
              <a:t>卖什么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47304" y="1417320"/>
            <a:ext cx="3383280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93608" y="1572768"/>
            <a:ext cx="64008" cy="347472"/>
          </a:xfrm>
          <a:prstGeom prst="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554480"/>
            <a:ext cx="29260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销售价值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057400"/>
            <a:ext cx="3054096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统一运营视图
提高能源与设施管理效率
缩短告警研判时间
支撑物业服务与节能优化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15015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51592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5C98D"/>
                </a:solidFill>
                <a:latin typeface="Microsoft YaHei"/>
              </a:rPr>
              <a:t>带来什么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政企楼宇智能体演示脚本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先看全局，再下钻到系统、告警和处置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61872"/>
            <a:ext cx="10881360" cy="84124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19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39D2C0"/>
                </a:solidFill>
                <a:latin typeface="Microsoft YaHei"/>
              </a:rPr>
              <a:t>01 综合态势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399031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4F8FA"/>
                </a:solidFill>
                <a:latin typeface="Microsoft YaHei"/>
              </a:rPr>
              <a:t>“汇总总部大楼当前综合运营态势。”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417319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关键指标 + 异常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04872"/>
            <a:ext cx="10881360" cy="84124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560320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39D2C0"/>
                </a:solidFill>
                <a:latin typeface="Microsoft YaHei"/>
              </a:rPr>
              <a:t>02 能源空调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542032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4F8FA"/>
                </a:solidFill>
                <a:latin typeface="Microsoft YaHei"/>
              </a:rPr>
              <a:t>“当前能耗和空调系统有哪些异常？”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560320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能耗 + 设备状态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47872"/>
            <a:ext cx="10881360" cy="84124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39D2C0"/>
                </a:solidFill>
                <a:latin typeface="Microsoft YaHei"/>
              </a:rPr>
              <a:t>03 安防消防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685032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4F8FA"/>
                </a:solidFill>
                <a:latin typeface="Microsoft YaHei"/>
              </a:rPr>
              <a:t>“列出未处理告警并给出处置优先级。”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03320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告警 + 研判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90872"/>
            <a:ext cx="10881360" cy="84124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1600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39D2C0"/>
                </a:solidFill>
                <a:latin typeface="Microsoft YaHei"/>
              </a:rPr>
              <a:t>04 人与资产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828032"/>
            <a:ext cx="59893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F4F8FA"/>
                </a:solidFill>
                <a:latin typeface="Microsoft YaHei"/>
              </a:rPr>
              <a:t>“楼宇人员和重点设施资产分别在哪里？”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846320"/>
            <a:ext cx="2240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5C98D"/>
                </a:solidFill>
                <a:latin typeface="Microsoft YaHei"/>
              </a:rPr>
              <a:t>位置 + 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870448"/>
            <a:ext cx="10744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2AE3D"/>
                </a:solidFill>
                <a:latin typeface="Microsoft YaHei"/>
              </a:rPr>
              <a:t>演示收口：从传统楼控“看数据”，升级为运营人员“问问题、得结论、看建议”。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共同核心：人与资产定位是三类场景的时空底座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接口契约一致，场景数据隔离，业务解释各不相同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029968"/>
            <a:ext cx="3383280" cy="150876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313432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F4F8FA"/>
                </a:solidFill>
                <a:latin typeface="Microsoft YaHei"/>
              </a:rPr>
              <a:t>统一定位能力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80360"/>
            <a:ext cx="2880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实时位置｜历史轨迹｜区域进出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280160"/>
            <a:ext cx="2560320" cy="123444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2144" y="1435607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1417319"/>
            <a:ext cx="2103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医院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920239"/>
            <a:ext cx="2231136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患者、医护、医疗设备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66160" y="1892807"/>
            <a:ext cx="777240" cy="896113"/>
          </a:xfrm>
          <a:prstGeom prst="line">
            <a:avLst/>
          </a:prstGeom>
          <a:ln w="27940">
            <a:solidFill>
              <a:srgbClr val="52A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5840" y="4160520"/>
            <a:ext cx="2560320" cy="123444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2144" y="431596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4297680"/>
            <a:ext cx="2103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工业园区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4800600"/>
            <a:ext cx="2231136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员工、承包商、生产资产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566160" y="2788920"/>
            <a:ext cx="777240" cy="1984248"/>
          </a:xfrm>
          <a:prstGeom prst="line">
            <a:avLst/>
          </a:prstGeom>
          <a:ln w="27940">
            <a:solidFill>
              <a:srgbClr val="F2A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732520" y="2743200"/>
            <a:ext cx="2560320" cy="123444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78824" y="2898648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43416" y="2880360"/>
            <a:ext cx="21031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政企楼宇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112" y="3383280"/>
            <a:ext cx="2231136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员工、访客、设施资产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7845552" y="2788920"/>
            <a:ext cx="886968" cy="566928"/>
          </a:xfrm>
          <a:prstGeom prst="line">
            <a:avLst/>
          </a:prstGeom>
          <a:ln w="27940">
            <a:solidFill>
              <a:srgbClr val="39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51560" y="5715000"/>
            <a:ext cx="100584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55C98D"/>
                </a:solidFill>
                <a:latin typeface="Microsoft YaHei"/>
              </a:rPr>
              <a:t>销售升级路径：定位项目 → 轨迹与区域规则 → 告警联动 → 业务流程智能化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销售培训架构：从产品介绍到成交推进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每次客户交流都围绕五个动作展开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572768"/>
            <a:ext cx="1993392" cy="3429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56231"/>
            <a:ext cx="17007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52A9E8"/>
                </a:solidFill>
                <a:latin typeface="Microsoft YaHei"/>
              </a:rPr>
              <a:t>1 选场景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724912"/>
            <a:ext cx="1536192" cy="1463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先确认客户属于医院、工业园区还是政企楼宇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95728" y="3273552"/>
            <a:ext cx="292608" cy="0"/>
          </a:xfrm>
          <a:prstGeom prst="line">
            <a:avLst/>
          </a:prstGeom>
          <a:ln w="27940">
            <a:solidFill>
              <a:srgbClr val="52A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34056" y="1572768"/>
            <a:ext cx="1993392" cy="3429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856231"/>
            <a:ext cx="17007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EF6A6A"/>
                </a:solidFill>
                <a:latin typeface="Microsoft YaHei"/>
              </a:rPr>
              <a:t>2 找痛点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2724912"/>
            <a:ext cx="1536192" cy="1463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定位查找、跨系统查询、告警研判、报表效率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45736" y="3273552"/>
            <a:ext cx="292608" cy="0"/>
          </a:xfrm>
          <a:prstGeom prst="line">
            <a:avLst/>
          </a:prstGeom>
          <a:ln w="27940">
            <a:solidFill>
              <a:srgbClr val="EF6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84064" y="1572768"/>
            <a:ext cx="1993392" cy="3429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1856231"/>
            <a:ext cx="17007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2AE3D"/>
                </a:solidFill>
                <a:latin typeface="Microsoft YaHei"/>
              </a:rPr>
              <a:t>3 演证据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724912"/>
            <a:ext cx="1536192" cy="1463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让智能体调用接口，展示数据来源与工具过程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95744" y="3273552"/>
            <a:ext cx="292608" cy="0"/>
          </a:xfrm>
          <a:prstGeom prst="line">
            <a:avLst/>
          </a:prstGeom>
          <a:ln w="27940">
            <a:solidFill>
              <a:srgbClr val="F2A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34071" y="1572768"/>
            <a:ext cx="1993392" cy="3429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0375" y="1856231"/>
            <a:ext cx="17007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39D2C0"/>
                </a:solidFill>
                <a:latin typeface="Microsoft YaHei"/>
              </a:rPr>
              <a:t>4 定试点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1" y="2724912"/>
            <a:ext cx="1536192" cy="1463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确定一个组织、区域、系统和三到五个问题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45751" y="3273552"/>
            <a:ext cx="292608" cy="0"/>
          </a:xfrm>
          <a:prstGeom prst="line">
            <a:avLst/>
          </a:prstGeom>
          <a:ln w="27940">
            <a:solidFill>
              <a:srgbClr val="39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84080" y="1572768"/>
            <a:ext cx="1993392" cy="3429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0384" y="1856231"/>
            <a:ext cx="1700784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55C98D"/>
                </a:solidFill>
                <a:latin typeface="Microsoft YaHei"/>
              </a:rPr>
              <a:t>5 推商用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724912"/>
            <a:ext cx="1536192" cy="1463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0">
                <a:solidFill>
                  <a:srgbClr val="9DB2BD"/>
                </a:solidFill>
                <a:latin typeface="Microsoft YaHei"/>
              </a:rPr>
              <a:t>接口调研、权限、安全、部署、验收指标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23560"/>
            <a:ext cx="10698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2AE3D"/>
                </a:solidFill>
                <a:latin typeface="Microsoft YaHei"/>
              </a:rPr>
              <a:t>目标不是“客户觉得很智能”，而是“客户同意提供接口清单并进入试点”。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售前调研：六个问题快速判断商机质量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答案越具体，越容易定义可成交的试点范围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61872"/>
            <a:ext cx="5230368" cy="1143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417319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399031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现有系统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01952"/>
            <a:ext cx="4901183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现在有哪些定位、门禁、业务和设备系统？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1408175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1449324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Q1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261872"/>
            <a:ext cx="5230368" cy="1143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417319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1399031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高频查询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01952"/>
            <a:ext cx="4901183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管理人员每天最常查的三个问题是什么？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05288" y="1408175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41864" y="1449324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39D2C0"/>
                </a:solidFill>
                <a:latin typeface="Microsoft YaHei"/>
              </a:rPr>
              <a:t>Q2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798063"/>
            <a:ext cx="5230368" cy="1143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2953511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2935223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协同成本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38144"/>
            <a:ext cx="4901183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一次跨系统查询或临时汇报需要多少人、多久？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1728" y="2944368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8304" y="2985515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2798063"/>
            <a:ext cx="5230368" cy="1143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36792" y="2953511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2935223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数据条件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438144"/>
            <a:ext cx="4901183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是否有 API、数据库或消息接口可用？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05288" y="2944368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41864" y="2985515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39D2C0"/>
                </a:solidFill>
                <a:latin typeface="Microsoft YaHei"/>
              </a:rPr>
              <a:t>Q4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34256"/>
            <a:ext cx="5230368" cy="1143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3232" y="4489704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" y="4471416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安全要求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974336"/>
            <a:ext cx="4901183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数据能否上云？是否必须本地部署？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81728" y="4480560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18304" y="4521708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Q5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0488" y="4334256"/>
            <a:ext cx="5230368" cy="114300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36792" y="4489704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01384" y="4471416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成功标准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974336"/>
            <a:ext cx="4901183" cy="3931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客户希望试点后哪个指标发生变化？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305288" y="4480560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41864" y="4521708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39D2C0"/>
                </a:solidFill>
                <a:latin typeface="Microsoft YaHei"/>
              </a:rPr>
              <a:t>Q6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演示成功的关键：固定故事线，不做无边界问答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先准备问题，再准备接口数据和异常案例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5230368" cy="443484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572768"/>
            <a:ext cx="64008" cy="347472"/>
          </a:xfrm>
          <a:prstGeom prst="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554480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推荐动作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057400"/>
            <a:ext cx="4901183" cy="36850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✓ 每个智能体准备 3—5 个黄金问题
✓ 先展示结论，再展开表格、图表和轨迹
✓ 主动说明数据来源与演示数据边界
✓ 切换场景时强调数据和接口隔离
✓ 生成图表时明确说柱状图/折线图/饼图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3168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5C98D"/>
                </a:solidFill>
                <a:latin typeface="Microsoft YaHei"/>
              </a:rPr>
              <a:t>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417320"/>
            <a:ext cx="5230368" cy="443484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37376" y="1572768"/>
            <a:ext cx="64008" cy="347472"/>
          </a:xfrm>
          <a:prstGeom prst="rect">
            <a:avLst/>
          </a:prstGeom>
          <a:solidFill>
            <a:srgbClr val="EF6A6A"/>
          </a:solidFill>
          <a:ln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554480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避免动作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057400"/>
            <a:ext cx="4901183" cy="36850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× 让客户随意测试完全未知问题
× 把所有能力一次性堆在一页
× 把模拟数据说成客户真实数据
× 只展示聊天，不展示工具调用
× 承诺未验证的接口、准确率和自动处置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5872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2448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EF6A6A"/>
                </a:solidFill>
                <a:latin typeface="Microsoft YaHei"/>
              </a:rPr>
              <a:t>DON'T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常见异议与标准回答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回答原则：先承认合理顾虑，再给出产品机制和落地路径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10972800" cy="74980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380744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AE3D"/>
                </a:solidFill>
                <a:latin typeface="Microsoft YaHei"/>
              </a:rPr>
              <a:t>“不就是聊天机器人吗？”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362456"/>
            <a:ext cx="7360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F4F8FA"/>
                </a:solidFill>
                <a:latin typeface="Microsoft YaHei"/>
              </a:rPr>
              <a:t>不是。对话只是入口，核心是业务工具、接口调用、数据隔离与可追溯结果。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203704"/>
            <a:ext cx="10972800" cy="74980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350008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AE3D"/>
                </a:solidFill>
                <a:latin typeface="Microsoft YaHei"/>
              </a:rPr>
              <a:t>“我们已经有很多系统。”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331720"/>
            <a:ext cx="7360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F4F8FA"/>
                </a:solidFill>
                <a:latin typeface="Microsoft YaHei"/>
              </a:rPr>
              <a:t>不替换现有系统，通过接口形成统一查询和跨系统关联。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172968"/>
            <a:ext cx="10972800" cy="74980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319272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AE3D"/>
                </a:solidFill>
                <a:latin typeface="Microsoft YaHei"/>
              </a:rPr>
              <a:t>“数据不能上云。”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300984"/>
            <a:ext cx="7360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F4F8FA"/>
                </a:solidFill>
                <a:latin typeface="Microsoft YaHei"/>
              </a:rPr>
              <a:t>支持本地模型和内网部署，敏感场景可不出企业网络。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42232"/>
            <a:ext cx="10972800" cy="74980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288536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AE3D"/>
                </a:solidFill>
                <a:latin typeface="Microsoft YaHei"/>
              </a:rPr>
              <a:t>“模型会不会胡说？”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270248"/>
            <a:ext cx="7360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F4F8FA"/>
                </a:solidFill>
                <a:latin typeface="Microsoft YaHei"/>
              </a:rPr>
              <a:t>数字必须来自工具返回；无数据时明确说明，关键结果可保留调用过程。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111496"/>
            <a:ext cx="10972800" cy="749808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5257800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F2AE3D"/>
                </a:solidFill>
                <a:latin typeface="Microsoft YaHei"/>
              </a:rPr>
              <a:t>“三个场景会不会串数据？”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239512"/>
            <a:ext cx="7360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F4F8FA"/>
                </a:solidFill>
                <a:latin typeface="Microsoft YaHei"/>
              </a:rPr>
              <a:t>每个智能体使用独立工具白名单、数据命名空间和会话记忆。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部署与商务组合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根据数据敏感度、复杂度和预算选择合适方案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19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2578608" cy="41605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" y="1572768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1554480"/>
            <a:ext cx="21214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演示验证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057400"/>
            <a:ext cx="2249424" cy="3410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模拟数据
快速展示
验证问题与流程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2536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1—2 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0712" y="1417320"/>
            <a:ext cx="2578608" cy="41605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7016" y="157276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1608" y="1554480"/>
            <a:ext cx="21214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单场景试点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5304" y="2057400"/>
            <a:ext cx="2249424" cy="3410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接入核心接口
一个区域/科室
形成验收问题集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3752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2AE3D"/>
                </a:solidFill>
                <a:latin typeface="Microsoft YaHei"/>
              </a:rPr>
              <a:t>4—8 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8504" y="1417320"/>
            <a:ext cx="2578608" cy="41605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64808" y="1572768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554480"/>
            <a:ext cx="21214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内网商用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2057400"/>
            <a:ext cx="2249424" cy="3410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本地模型
权限与审计
高可用与运维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81544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8120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39D2C0"/>
                </a:solidFill>
                <a:latin typeface="Microsoft YaHei"/>
              </a:rPr>
              <a:t>分阶段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26296" y="1417320"/>
            <a:ext cx="2578608" cy="41605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72600" y="1572768"/>
            <a:ext cx="64008" cy="347472"/>
          </a:xfrm>
          <a:prstGeom prst="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37192" y="1554480"/>
            <a:ext cx="212140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多场景扩展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0888" y="2057400"/>
            <a:ext cx="2249424" cy="3410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复用统一平台
新增数据适配
跨组织推广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89336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25912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5C98D"/>
                </a:solidFill>
                <a:latin typeface="Microsoft YaHei"/>
              </a:rPr>
              <a:t>持续建设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06440"/>
            <a:ext cx="10881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4F8FA"/>
                </a:solidFill>
                <a:latin typeface="Microsoft YaHei"/>
              </a:rPr>
              <a:t>商务拆分建议：平台软件 + 场景智能体 + 数据接口适配 + 定位硬件/实施 + 运维服务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从 Demo 到商用：用可验收问题驱动实施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避免泛化目标，把成功定义为一组能稳定回答的业务问题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20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554480"/>
            <a:ext cx="2011680" cy="34747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" y="1709928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91639"/>
            <a:ext cx="1554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接口梳理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2194560"/>
            <a:ext cx="1682496" cy="2724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系统、字段、频率、权限、负责人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35024" y="170078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74193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59736" y="3218688"/>
            <a:ext cx="283464" cy="0"/>
          </a:xfrm>
          <a:prstGeom prst="line">
            <a:avLst/>
          </a:prstGeom>
          <a:ln w="27940">
            <a:solidFill>
              <a:srgbClr val="52A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88920" y="1554480"/>
            <a:ext cx="2011680" cy="34747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5224" y="170992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9815" y="1691639"/>
            <a:ext cx="1554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数据映射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2194560"/>
            <a:ext cx="1682496" cy="2724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人员/资产主数据、区域、事件口径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85032" y="170078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608" y="174193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F2AE3D"/>
                </a:solidFill>
                <a:latin typeface="Microsoft YaHei"/>
              </a:rPr>
              <a:t>02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09744" y="3218688"/>
            <a:ext cx="283464" cy="0"/>
          </a:xfrm>
          <a:prstGeom prst="line">
            <a:avLst/>
          </a:prstGeom>
          <a:ln w="27940">
            <a:solidFill>
              <a:srgbClr val="F2AE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38927" y="1554480"/>
            <a:ext cx="2011680" cy="34747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85231" y="1709928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9823" y="1691639"/>
            <a:ext cx="1554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问题集建设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19" y="2194560"/>
            <a:ext cx="1682496" cy="2724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选择 20—50 个高价值业务问题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70078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616" y="174193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39D2C0"/>
                </a:solidFill>
                <a:latin typeface="Microsoft YaHei"/>
              </a:rPr>
              <a:t>03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59751" y="3218688"/>
            <a:ext cx="283464" cy="0"/>
          </a:xfrm>
          <a:prstGeom prst="line">
            <a:avLst/>
          </a:prstGeom>
          <a:ln w="27940">
            <a:solidFill>
              <a:srgbClr val="39D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88936" y="1554480"/>
            <a:ext cx="2011680" cy="34747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35240" y="1709928"/>
            <a:ext cx="64008" cy="347472"/>
          </a:xfrm>
          <a:prstGeom prst="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99831" y="1691639"/>
            <a:ext cx="1554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联调评测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53527" y="2194560"/>
            <a:ext cx="1682496" cy="2724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工具选择、答案准确、延迟、权限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85048" y="170078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21624" y="174193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5C98D"/>
                </a:solidFill>
                <a:latin typeface="Microsoft YaHei"/>
              </a:rPr>
              <a:t>04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09759" y="3218688"/>
            <a:ext cx="283465" cy="0"/>
          </a:xfrm>
          <a:prstGeom prst="line">
            <a:avLst/>
          </a:prstGeom>
          <a:ln w="27940">
            <a:solidFill>
              <a:srgbClr val="55C9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38944" y="1554480"/>
            <a:ext cx="2011680" cy="347472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85248" y="1709928"/>
            <a:ext cx="64008" cy="347472"/>
          </a:xfrm>
          <a:prstGeom prst="rect">
            <a:avLst/>
          </a:prstGeom>
          <a:solidFill>
            <a:srgbClr val="9A7BEA"/>
          </a:solidFill>
          <a:ln>
            <a:solidFill>
              <a:srgbClr val="9A7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1691639"/>
            <a:ext cx="1554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试运行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3536" y="2194560"/>
            <a:ext cx="1682496" cy="2724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使用反馈、日志审计、提示词优化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35056" y="170078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9A7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71632" y="174193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9A7BEA"/>
                </a:solidFill>
                <a:latin typeface="Microsoft YaHe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623560"/>
            <a:ext cx="1083564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2AE3D"/>
                </a:solidFill>
                <a:latin typeface="Microsoft YaHei"/>
              </a:rPr>
              <a:t>建议验收指标：问题覆盖率｜接口调用正确率｜结果准确性｜响应时间｜权限合规｜用户使用频次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我们的差异化，不只在模型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模型可替换，真正形成壁垒的是行业数据、定位能力和交付方法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21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481328"/>
            <a:ext cx="64008" cy="347472"/>
          </a:xfrm>
          <a:prstGeom prst="rect">
            <a:avLst/>
          </a:prstGeom>
          <a:solidFill>
            <a:srgbClr val="F2AE3D"/>
          </a:solidFill>
          <a:ln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463039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核心定位能力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96596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人与资产实时位置、轨迹、区域进出形成统一时空底座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1481328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1463039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行业工具体系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96596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面向医疗、安全、楼宇预置业务接口和回答规则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1" y="132588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5" y="1481328"/>
            <a:ext cx="64008" cy="347472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7" y="1463039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数据隔离机制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3" y="196596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不同场景独立工具、数据和会话，减少串场和越权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47472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630168"/>
            <a:ext cx="64008" cy="347472"/>
          </a:xfrm>
          <a:prstGeom prst="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611879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本地云端协同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敏感查询本地化，复杂任务可按策略使用云端模型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47472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35424" y="3630168"/>
            <a:ext cx="64008" cy="347472"/>
          </a:xfrm>
          <a:prstGeom prst="rect">
            <a:avLst/>
          </a:prstGeom>
          <a:solidFill>
            <a:srgbClr val="9A7BEA"/>
          </a:solidFill>
          <a:ln>
            <a:solidFill>
              <a:srgbClr val="9A7B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0016" y="3611879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可演示可实施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11480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模拟接口快速验证，接口契约可平滑替换为真实系统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11311" y="3474720"/>
            <a:ext cx="3438144" cy="1627632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57615" y="3630168"/>
            <a:ext cx="64008" cy="347472"/>
          </a:xfrm>
          <a:prstGeom prst="rect">
            <a:avLst/>
          </a:prstGeom>
          <a:solidFill>
            <a:srgbClr val="EF6A6A"/>
          </a:solidFill>
          <a:ln>
            <a:solidFill>
              <a:srgbClr val="EF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7" y="3611879"/>
            <a:ext cx="298094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销售到验收闭环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3" y="4114800"/>
            <a:ext cx="3108960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用问题集驱动调研、试点、评测与验收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销售行动清单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把一次产品演示转化为下一步可执行的项目动作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22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17320"/>
            <a:ext cx="5230368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572768"/>
            <a:ext cx="64008" cy="347472"/>
          </a:xfrm>
          <a:prstGeom prst="rect">
            <a:avLst/>
          </a:prstGeom>
          <a:solidFill>
            <a:srgbClr val="52A9E8"/>
          </a:solidFill>
          <a:ln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554480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演示前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057400"/>
            <a:ext cx="4901183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□ 确定客户主场景与关键决策人
□ 收集现有系统及接口清单
□ 确认 3—5 个演示黄金问题
□ 明确数据安全与部署边界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3168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2A9E8"/>
                </a:solidFill>
                <a:latin typeface="Microsoft YaHei"/>
              </a:rPr>
              <a:t>PREPARE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417320"/>
            <a:ext cx="5230368" cy="4251960"/>
          </a:xfrm>
          <a:prstGeom prst="roundRect">
            <a:avLst/>
          </a:prstGeom>
          <a:solidFill>
            <a:srgbClr val="102532"/>
          </a:solidFill>
          <a:ln w="12700">
            <a:solidFill>
              <a:srgbClr val="29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37376" y="1572768"/>
            <a:ext cx="64008" cy="347472"/>
          </a:xfrm>
          <a:prstGeom prst="rect">
            <a:avLst/>
          </a:prstGeom>
          <a:solidFill>
            <a:srgbClr val="55C98D"/>
          </a:solidFill>
          <a:ln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554480"/>
            <a:ext cx="477316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F4F8FA"/>
                </a:solidFill>
                <a:latin typeface="Microsoft YaHei"/>
              </a:rPr>
              <a:t>演示后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057400"/>
            <a:ext cx="4901183" cy="35021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□ 选定首期试点区域或科室
□ 形成可验收问题集与指标
□ 锁定数据、业务和信息化负责人
□ 约定接口调研与方案汇报时间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5872" y="1563624"/>
            <a:ext cx="941832" cy="2743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5C9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2448" y="1604772"/>
            <a:ext cx="8686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50" b="1">
                <a:solidFill>
                  <a:srgbClr val="55C98D"/>
                </a:solidFill>
                <a:latin typeface="Microsoft YaHei"/>
              </a:rP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897880"/>
            <a:ext cx="1074420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2AE3D"/>
                </a:solidFill>
                <a:latin typeface="Microsoft YaHei"/>
              </a:rPr>
              <a:t>一句话收口：先用一个高价值场景验证，再复用统一平台扩展更多智能运营能力。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真实软件演示：医疗智能体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切换后独立呈现医疗主题、能力入口和急诊/资产问题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07008"/>
            <a:ext cx="10908792" cy="50749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52A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三智能体PPT-医疗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61872"/>
            <a:ext cx="10799064" cy="486460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真实软件演示：人员安全智能体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围绕人员与资产定位、作业票、报警、考勤和能源设备展开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24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07008"/>
            <a:ext cx="10908792" cy="50749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F2A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三智能体PPT-人员安全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61872"/>
            <a:ext cx="10799064" cy="48646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83464"/>
            <a:ext cx="73152" cy="457200"/>
          </a:xfrm>
          <a:prstGeom prst="rect">
            <a:avLst/>
          </a:prstGeom>
          <a:solidFill>
            <a:srgbClr val="39D2C0"/>
          </a:solidFill>
          <a:ln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28600"/>
            <a:ext cx="9966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500" b="1">
                <a:solidFill>
                  <a:srgbClr val="F4F8FA"/>
                </a:solidFill>
                <a:latin typeface="Microsoft YaHei"/>
              </a:rPr>
              <a:t>真实软件演示：政企楼宇智能体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9DB2BD"/>
                </a:solidFill>
                <a:latin typeface="Microsoft YaHei"/>
              </a:rPr>
              <a:t>统一查询楼宇人员资产、能源空调、安防消防、停车电梯和维保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02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100" b="1">
                <a:solidFill>
                  <a:srgbClr val="39D2C0"/>
                </a:solidFill>
                <a:latin typeface="Microsoft YaHei"/>
              </a:rPr>
              <a:t>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033271"/>
            <a:ext cx="11265408" cy="0"/>
          </a:xfrm>
          <a:prstGeom prst="line">
            <a:avLst/>
          </a:prstGeom>
          <a:ln>
            <a:solidFill>
              <a:srgbClr val="29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5488" y="6547104"/>
            <a:ext cx="4754880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5808D"/>
                </a:solidFill>
                <a:latin typeface="Microsoft YaHei"/>
              </a:rPr>
              <a:t>三智能体智能运营中心｜售前与销售培训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5029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800" b="0">
                <a:solidFill>
                  <a:srgbClr val="65808D"/>
                </a:solidFill>
                <a:latin typeface="Microsoft YaHe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07008"/>
            <a:ext cx="10908792" cy="5074920"/>
          </a:xfrm>
          <a:prstGeom prst="roundRect">
            <a:avLst/>
          </a:prstGeom>
          <a:solidFill>
            <a:srgbClr val="16313F"/>
          </a:solidFill>
          <a:ln w="12700">
            <a:solidFill>
              <a:srgbClr val="39D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三智能体PPT-楼宇界面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61872"/>
            <a:ext cx="10799064" cy="48646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三智能体智能运营中心｜售前与销售培训</dc:title>
  <dc:subject>医疗、人员安全、政企楼宇三智能体销售方法与演示架构</dc:subject>
  <dc:creator>智能运营中心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
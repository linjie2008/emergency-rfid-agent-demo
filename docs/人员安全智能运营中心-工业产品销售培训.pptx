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开场不要先讲技术。用一句话定位：我们把工业现场分散的人、作业和设备数据，变成管理者可以直接提问、直接决策的统一智能入口。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强调三个关键词：工业现场、统一入口、风险闭环。客户问是不是大模型套壳时，回答：模型只是交互入口，真正价值在业务接口、数据关联、工具路由和安全闭环。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面向不同角色切换价值点：安全部门讲人员和作业风险，设备部门讲预测维护，信息化部门讲接口复用、本地部署和权限审计。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请销售在客户现场至少确认三个痛点，不要把所有痛点一次讲完。客户对哪个问题反应最强，就从对应场景进入产品能力。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这页是能力总览。不要逐项念功能，强调六类对象可以互相关联，例如人员轨迹与作业票、设备报警与维护工单、生产负荷与安全风险。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客户担心改造量时重点讲：平台通过接口连接现有系统，不要求替换定位、门禁、作业票或设备管理平台。第一阶段从只读查询开始，降低上线风险。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人员定位不是终点。强调身份、准入、位置、行为、作业五类信息关联。客户已有定位系统也不冲突，我们提供的是统一分析和智能入口。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展示时先问客户：发生报警时，多久能确认区域内有哪些人？然后演示自然语言提问和透明建筑内人员显示。不要承诺定位精度，精度取决于客户现场定位系统。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如果客户已有电子作业票，重点不是替代，而是把票与人员定位、门禁和现场活动关联，回答‘票上允许什么、现场实际发生了什么’。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强调平台输出优先级和关联信息，但不替代安全联锁或法定处置流程。高风险事件必须由规则和责任人员确认。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面向集团或综合能源客户时突出电热气协同。面向单一工厂时只讲客户相关专业，避免功能过多稀释价值。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不要承诺‘零故障’。正确表述是：帮助客户更早发现异常趋势、优化检修优先级和窗口。询问客户已有传感器、历史故障、检修记录和工单系统情况。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这是本地模型差异化重点。动态路由解决工具过多导致的上下文溢出、误选和响应慢，同时支持无关键词追问沿用上一业务域。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面对数据安全异议，优先讲本地模型和内网部署；面对效果异议，讲按任务切换模型。不要承诺绝对安全，正式项目仍需权限、审计、网络和主机安全体系。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这是最适合安全部门的组合场景。演示时先查人员，再查票，再看地图和报警，最后让系统给出简短结论。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设备部门更关心数据来源和算法可信度。先确认传感器与历史数据，再讨论模型。销售不要只展示风险概率，必须展示证据、趋势和建议动作。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不要在没有基线数据时承诺具体百分比。销售应与客户共同定义现状基线、目标指标和验收口径。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需求访谈的目标不是马上报价，而是确认数据基础、关键痛点、决策链和验收指标。至少拿到一个可量化场景再进入方案阶段。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演示过程中不要临时尝试未验证问题。使用标准问题集；每个场景都遵循‘问题—接口调用—可视化—一句话结论—客户价值’结构。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不要与客户争辩。先确认顾虑合理，再说明产品机制和验证方式。对数据安全、算法效果和定位精度等问题必须保留实施边界。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落地策略是小场景、真实数据、可量化价值。第一阶段不追求覆盖全部系统，优先选择数据基础好、管理痛点强、责任部门明确的场景。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收尾不要停在‘谢谢’。邀请客户共同选择一个场景，安排业务、设备和信息化人员参加接口与数据诊断会。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D1921"/>
          </a:solidFill>
          <a:ln>
            <a:solidFill>
              <a:srgbClr val="0D19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194560" y="0"/>
            <a:ext cx="2103120" cy="6858000"/>
          </a:xfrm>
          <a:prstGeom prst="line">
            <a:avLst/>
          </a:prstGeom>
          <a:ln w="8890">
            <a:solidFill>
              <a:srgbClr val="162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2971800" y="0"/>
            <a:ext cx="2103120" cy="6858000"/>
          </a:xfrm>
          <a:prstGeom prst="line">
            <a:avLst/>
          </a:prstGeom>
          <a:ln w="8890">
            <a:solidFill>
              <a:srgbClr val="162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3749039" y="0"/>
            <a:ext cx="2103121" cy="6858000"/>
          </a:xfrm>
          <a:prstGeom prst="line">
            <a:avLst/>
          </a:prstGeom>
          <a:ln w="8890">
            <a:solidFill>
              <a:srgbClr val="162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4526279" y="0"/>
            <a:ext cx="2103121" cy="6858000"/>
          </a:xfrm>
          <a:prstGeom prst="line">
            <a:avLst/>
          </a:prstGeom>
          <a:ln w="8890">
            <a:solidFill>
              <a:srgbClr val="162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5303520" y="0"/>
            <a:ext cx="2103120" cy="6858000"/>
          </a:xfrm>
          <a:prstGeom prst="line">
            <a:avLst/>
          </a:prstGeom>
          <a:ln w="8890">
            <a:solidFill>
              <a:srgbClr val="162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6080760" y="0"/>
            <a:ext cx="2103119" cy="6858000"/>
          </a:xfrm>
          <a:prstGeom prst="line">
            <a:avLst/>
          </a:prstGeom>
          <a:ln w="8890">
            <a:solidFill>
              <a:srgbClr val="162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858000" y="0"/>
            <a:ext cx="2103120" cy="6858000"/>
          </a:xfrm>
          <a:prstGeom prst="line">
            <a:avLst/>
          </a:prstGeom>
          <a:ln w="8890">
            <a:solidFill>
              <a:srgbClr val="162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635240" y="0"/>
            <a:ext cx="2103120" cy="6858000"/>
          </a:xfrm>
          <a:prstGeom prst="line">
            <a:avLst/>
          </a:prstGeom>
          <a:ln w="8890">
            <a:solidFill>
              <a:srgbClr val="162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8412480" y="0"/>
            <a:ext cx="2103120" cy="6858000"/>
          </a:xfrm>
          <a:prstGeom prst="line">
            <a:avLst/>
          </a:prstGeom>
          <a:ln w="8890">
            <a:solidFill>
              <a:srgbClr val="162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" y="640080"/>
            <a:ext cx="530352" cy="530352"/>
          </a:xfrm>
          <a:prstGeom prst="roundRect">
            <a:avLst/>
          </a:prstGeom>
          <a:solidFill>
            <a:srgbClr val="F3AA2B"/>
          </a:solidFill>
          <a:ln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795528"/>
            <a:ext cx="530352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A1118"/>
                </a:solidFill>
                <a:latin typeface="Microsoft YaHei"/>
              </a:rPr>
              <a:t>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874519"/>
            <a:ext cx="8046720" cy="7132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400" b="1">
                <a:solidFill>
                  <a:srgbClr val="F2F6F7"/>
                </a:solidFill>
                <a:latin typeface="Microsoft YaHei"/>
              </a:rPr>
              <a:t>人员安全智能运营中心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697480"/>
            <a:ext cx="8686800" cy="42062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0">
                <a:solidFill>
                  <a:srgbClr val="C1D0D6"/>
                </a:solidFill>
                <a:latin typeface="Microsoft YaHei"/>
              </a:rPr>
              <a:t>面向工业现场的人、地、票、警、设备与生产一体化智能运营平台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" y="3337560"/>
            <a:ext cx="1005840" cy="45720"/>
          </a:xfrm>
          <a:prstGeom prst="rect">
            <a:avLst/>
          </a:prstGeom>
          <a:solidFill>
            <a:srgbClr val="F3AA2B"/>
          </a:solidFill>
          <a:ln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3611880"/>
            <a:ext cx="804672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3AA2B"/>
                </a:solidFill>
                <a:latin typeface="Microsoft YaHei"/>
              </a:rPr>
              <a:t>让人员安全看得见，让设备风险早发现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4892040"/>
            <a:ext cx="1737360" cy="310896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928616"/>
            <a:ext cx="1664207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F3AA2B"/>
                </a:solidFill>
                <a:latin typeface="Microsoft YaHei"/>
              </a:rPr>
              <a:t>工业产品销售培训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06040" y="4892040"/>
            <a:ext cx="1234440" cy="310896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42616" y="4928616"/>
            <a:ext cx="116128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28C7B7"/>
                </a:solidFill>
                <a:latin typeface="Microsoft YaHei"/>
              </a:rPr>
              <a:t>解决方案版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172200"/>
            <a:ext cx="50292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07985"/>
                </a:solidFill>
                <a:latin typeface="Microsoft YaHei"/>
              </a:rPr>
              <a:t>INTEGRATED INDUSTRIAL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10896"/>
            <a:ext cx="73152" cy="438912"/>
          </a:xfrm>
          <a:prstGeom prst="rect">
            <a:avLst/>
          </a:prstGeom>
          <a:solidFill>
            <a:srgbClr val="F3AA2B"/>
          </a:solidFill>
          <a:ln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996696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F2F6F7"/>
                </a:solidFill>
                <a:latin typeface="Microsoft YaHei"/>
              </a:rPr>
              <a:t>销售首先讲清楚：我们卖的是什么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6984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7AAB4"/>
                </a:solidFill>
                <a:latin typeface="Microsoft YaHei"/>
              </a:rPr>
              <a:t>不要把产品介绍成聊天机器人，也不要只强调人员定位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274320"/>
            <a:ext cx="658368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F3AA2B"/>
                </a:solidFill>
                <a:latin typeface="Microsoft YaHei"/>
              </a:rPr>
              <a:t>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60704"/>
            <a:ext cx="11265408" cy="0"/>
          </a:xfrm>
          <a:prstGeom prst="line">
            <a:avLst/>
          </a:prstGeom>
          <a:ln w="12700">
            <a:solidFill>
              <a:srgbClr val="334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37960"/>
            <a:ext cx="50292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F838E"/>
                </a:solidFill>
                <a:latin typeface="Microsoft YaHei"/>
              </a:rPr>
              <a:t>人员安全智能运营中心｜销售培训资料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94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6F838E"/>
                </a:solidFill>
                <a:latin typeface="Microsoft Ya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2926080" cy="4754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3AA2B"/>
                </a:solidFill>
                <a:latin typeface="Microsoft YaHei"/>
              </a:rPr>
              <a:t>一个入口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57400"/>
            <a:ext cx="310896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2F6F7"/>
                </a:solidFill>
                <a:latin typeface="Microsoft YaHei"/>
              </a:rPr>
              <a:t>连接工业现场全部关键数据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51760"/>
            <a:ext cx="2971800" cy="16459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97AAB4"/>
                </a:solidFill>
                <a:latin typeface="Microsoft YaHei"/>
              </a:defRPr>
            </a:pPr>
            <a:r>
              <a:t>•  自然语言查询</a:t>
            </a:r>
          </a:p>
          <a:p>
            <a:pPr>
              <a:spcAft>
                <a:spcPts val="900"/>
              </a:spcAft>
              <a:defRPr sz="1300" b="0">
                <a:solidFill>
                  <a:srgbClr val="97AAB4"/>
                </a:solidFill>
                <a:latin typeface="Microsoft YaHei"/>
              </a:defRPr>
            </a:pPr>
            <a:r>
              <a:t>•  网页与移动端</a:t>
            </a:r>
          </a:p>
          <a:p>
            <a:pPr>
              <a:spcAft>
                <a:spcPts val="900"/>
              </a:spcAft>
              <a:defRPr sz="1300" b="0">
                <a:solidFill>
                  <a:srgbClr val="97AAB4"/>
                </a:solidFill>
                <a:latin typeface="Microsoft YaHei"/>
              </a:defRPr>
            </a:pPr>
            <a:r>
              <a:t>•  统一身份与权限</a:t>
            </a:r>
          </a:p>
        </p:txBody>
      </p:sp>
      <p:sp>
        <p:nvSpPr>
          <p:cNvPr id="12" name="Chevron 11"/>
          <p:cNvSpPr/>
          <p:nvPr/>
        </p:nvSpPr>
        <p:spPr>
          <a:xfrm>
            <a:off x="3886200" y="2212848"/>
            <a:ext cx="960120" cy="1097280"/>
          </a:xfrm>
          <a:prstGeom prst="chevron">
            <a:avLst/>
          </a:prstGeom>
          <a:solidFill>
            <a:srgbClr val="F3AA2B"/>
          </a:solidFill>
          <a:ln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1508760"/>
            <a:ext cx="2926080" cy="4754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8C7B7"/>
                </a:solidFill>
                <a:latin typeface="Microsoft YaHei"/>
              </a:rPr>
              <a:t>一套能力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2352" y="2057400"/>
            <a:ext cx="315468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2F6F7"/>
                </a:solidFill>
                <a:latin typeface="Microsoft YaHei"/>
              </a:rPr>
              <a:t>查询、分析、预测、可视化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2352" y="2651760"/>
            <a:ext cx="2926080" cy="16459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97AAB4"/>
                </a:solidFill>
                <a:latin typeface="Microsoft YaHei"/>
              </a:defRPr>
            </a:pPr>
            <a:r>
              <a:t>•  动态调用业务接口</a:t>
            </a:r>
          </a:p>
          <a:p>
            <a:pPr>
              <a:spcAft>
                <a:spcPts val="900"/>
              </a:spcAft>
              <a:defRPr sz="1300" b="0">
                <a:solidFill>
                  <a:srgbClr val="97AAB4"/>
                </a:solidFill>
                <a:latin typeface="Microsoft YaHei"/>
              </a:defRPr>
            </a:pPr>
            <a:r>
              <a:t>•  数据驱动结论</a:t>
            </a:r>
          </a:p>
          <a:p>
            <a:pPr>
              <a:spcAft>
                <a:spcPts val="900"/>
              </a:spcAft>
              <a:defRPr sz="1300" b="0">
                <a:solidFill>
                  <a:srgbClr val="97AAB4"/>
                </a:solidFill>
                <a:latin typeface="Microsoft YaHei"/>
              </a:defRPr>
            </a:pPr>
            <a:r>
              <a:t>•  本地与云端协同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1417320"/>
            <a:ext cx="2926080" cy="3886200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1737360"/>
            <a:ext cx="228600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3AA2B"/>
                </a:solidFill>
                <a:latin typeface="Microsoft YaHei"/>
              </a:rPr>
              <a:t>销售标准表述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42248" y="2423160"/>
            <a:ext cx="2148840" cy="1874519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2F6F7"/>
                </a:solidFill>
                <a:latin typeface="Microsoft YaHei"/>
              </a:rPr>
              <a:t>“面向工业企业的人员安全与设备智能运营平台，以统一智能入口连接现场业务系统，帮助客户更快发现风险、更快获取结论、更快形成闭环。”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10896"/>
            <a:ext cx="73152" cy="438912"/>
          </a:xfrm>
          <a:prstGeom prst="rect">
            <a:avLst/>
          </a:prstGeom>
          <a:solidFill>
            <a:srgbClr val="F3AA2B"/>
          </a:solidFill>
          <a:ln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996696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F2F6F7"/>
                </a:solidFill>
                <a:latin typeface="Microsoft YaHei"/>
              </a:rPr>
              <a:t>目标客户与关键决策人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6984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7AAB4"/>
                </a:solidFill>
                <a:latin typeface="Microsoft YaHei"/>
              </a:rPr>
              <a:t>先判断谁有痛点、谁有预算、谁影响选型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274320"/>
            <a:ext cx="658368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F3AA2B"/>
                </a:solidFill>
                <a:latin typeface="Microsoft YaHei"/>
              </a:rPr>
              <a:t>03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60704"/>
            <a:ext cx="11265408" cy="0"/>
          </a:xfrm>
          <a:prstGeom prst="line">
            <a:avLst/>
          </a:prstGeom>
          <a:ln w="12700">
            <a:solidFill>
              <a:srgbClr val="334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37960"/>
            <a:ext cx="50292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F838E"/>
                </a:solidFill>
                <a:latin typeface="Microsoft YaHei"/>
              </a:rPr>
              <a:t>人员安全智能运营中心｜销售培训资料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94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6F838E"/>
                </a:solidFill>
                <a:latin typeface="Microsoft YaHei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3429000" cy="132588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0664" y="1563624"/>
            <a:ext cx="347472" cy="347472"/>
          </a:xfrm>
          <a:prstGeom prst="roundRect">
            <a:avLst/>
          </a:prstGeom>
          <a:solidFill>
            <a:srgbClr val="F3AA2B"/>
          </a:solidFill>
          <a:ln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" y="1609344"/>
            <a:ext cx="347472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0A1118"/>
                </a:solidFill>
                <a:latin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563624"/>
            <a:ext cx="2679192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2F6F7"/>
                </a:solidFill>
                <a:latin typeface="Microsoft YaHei"/>
              </a:rPr>
              <a:t>能源集团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039112"/>
            <a:ext cx="3099816" cy="5760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7AAB4"/>
                </a:solidFill>
                <a:latin typeface="Microsoft YaHei"/>
              </a:rPr>
              <a:t>电力、热力、燃气、综合能源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6552" y="1417320"/>
            <a:ext cx="3429000" cy="132588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62856" y="1563624"/>
            <a:ext cx="347472" cy="347472"/>
          </a:xfrm>
          <a:prstGeom prst="roundRect">
            <a:avLst/>
          </a:prstGeom>
          <a:solidFill>
            <a:srgbClr val="28C7B7"/>
          </a:solidFill>
          <a:ln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6" y="1609344"/>
            <a:ext cx="347472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0A1118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0912" y="1563624"/>
            <a:ext cx="2679192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2F6F7"/>
                </a:solidFill>
                <a:latin typeface="Microsoft YaHei"/>
              </a:rPr>
              <a:t>流程工业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2039112"/>
            <a:ext cx="3099816" cy="5760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7AAB4"/>
                </a:solidFill>
                <a:latin typeface="Microsoft YaHei"/>
              </a:rPr>
              <a:t>化工、煤化工、冶金、建材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4" y="1417320"/>
            <a:ext cx="3429000" cy="132588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1563624"/>
            <a:ext cx="347472" cy="347472"/>
          </a:xfrm>
          <a:prstGeom prst="roundRect">
            <a:avLst/>
          </a:prstGeom>
          <a:solidFill>
            <a:srgbClr val="4DA9D7"/>
          </a:solidFill>
          <a:ln>
            <a:solidFill>
              <a:srgbClr val="4DA9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1609344"/>
            <a:ext cx="347472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0A1118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33104" y="1563624"/>
            <a:ext cx="2679192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2F6F7"/>
                </a:solidFill>
                <a:latin typeface="Microsoft YaHei"/>
              </a:rPr>
              <a:t>大型园区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3336" y="2039112"/>
            <a:ext cx="3099816" cy="5760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7AAB4"/>
                </a:solidFill>
                <a:latin typeface="Microsoft YaHei"/>
              </a:rPr>
              <a:t>工业园、制造基地、仓储物流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3108960"/>
            <a:ext cx="10972800" cy="621792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273552"/>
            <a:ext cx="14173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3AA2B"/>
                </a:solidFill>
                <a:latin typeface="Microsoft YaHei"/>
              </a:rPr>
              <a:t>主要购买者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3273552"/>
            <a:ext cx="86410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2F6F7"/>
                </a:solidFill>
                <a:latin typeface="Microsoft YaHei"/>
              </a:rPr>
              <a:t>安全管理部｜生产运营部｜设备管理部｜数字化部门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" y="3913632"/>
            <a:ext cx="10972800" cy="621792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078224"/>
            <a:ext cx="14173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8C7B7"/>
                </a:solidFill>
                <a:latin typeface="Microsoft YaHei"/>
              </a:rPr>
              <a:t>关键影响者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4078224"/>
            <a:ext cx="86410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2F6F7"/>
                </a:solidFill>
                <a:latin typeface="Microsoft YaHei"/>
              </a:rPr>
              <a:t>厂长/总工程师｜信息中心｜承包商管理部门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" y="4718304"/>
            <a:ext cx="10972800" cy="621792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882896"/>
            <a:ext cx="14173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8C7B7"/>
                </a:solidFill>
                <a:latin typeface="Microsoft YaHei"/>
              </a:rPr>
              <a:t>核心使用者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4882896"/>
            <a:ext cx="86410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2F6F7"/>
                </a:solidFill>
                <a:latin typeface="Microsoft YaHei"/>
              </a:rPr>
              <a:t>调度员｜值班长｜安全员｜设备工程师｜现场负责人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10896"/>
            <a:ext cx="73152" cy="438912"/>
          </a:xfrm>
          <a:prstGeom prst="rect">
            <a:avLst/>
          </a:prstGeom>
          <a:solidFill>
            <a:srgbClr val="F3AA2B"/>
          </a:solidFill>
          <a:ln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996696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F2F6F7"/>
                </a:solidFill>
                <a:latin typeface="Microsoft YaHei"/>
              </a:rPr>
              <a:t>客户为什么需要这套产品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6984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7AAB4"/>
                </a:solidFill>
                <a:latin typeface="Microsoft YaHei"/>
              </a:rPr>
              <a:t>不要从功能出发，要从现场管理成本和风险出发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274320"/>
            <a:ext cx="658368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F3AA2B"/>
                </a:solidFill>
                <a:latin typeface="Microsoft YaHei"/>
              </a:rPr>
              <a:t>04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60704"/>
            <a:ext cx="11265408" cy="0"/>
          </a:xfrm>
          <a:prstGeom prst="line">
            <a:avLst/>
          </a:prstGeom>
          <a:ln w="12700">
            <a:solidFill>
              <a:srgbClr val="334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37960"/>
            <a:ext cx="50292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F838E"/>
                </a:solidFill>
                <a:latin typeface="Microsoft YaHei"/>
              </a:rPr>
              <a:t>人员安全智能运营中心｜销售培训资料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94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6F838E"/>
                </a:solidFill>
                <a:latin typeface="Microsoft YaHei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1417320"/>
            <a:ext cx="3456432" cy="1847088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00200"/>
            <a:ext cx="457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3AA2B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1581912"/>
            <a:ext cx="23774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2F6F7"/>
                </a:solidFill>
                <a:latin typeface="Microsoft YaHei"/>
              </a:rPr>
              <a:t>系统多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075688"/>
            <a:ext cx="3017520" cy="4754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97AAB4"/>
                </a:solidFill>
                <a:latin typeface="Microsoft YaHei"/>
              </a:rPr>
              <a:t>定位、门禁、作业票、设备监测彼此孤立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2743200"/>
            <a:ext cx="1417320" cy="310896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E2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779776"/>
            <a:ext cx="134416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E26363"/>
                </a:solidFill>
                <a:latin typeface="Microsoft YaHei"/>
              </a:rPr>
              <a:t>跨系统查询慢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7" y="1417320"/>
            <a:ext cx="3456432" cy="1847088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1600200"/>
            <a:ext cx="457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3AA2B"/>
                </a:solidFill>
                <a:latin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7" y="1581912"/>
            <a:ext cx="23774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2F6F7"/>
                </a:solidFill>
                <a:latin typeface="Microsoft YaHei"/>
              </a:rPr>
              <a:t>数据散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5" y="2075688"/>
            <a:ext cx="3017520" cy="4754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97AAB4"/>
                </a:solidFill>
                <a:latin typeface="Microsoft YaHei"/>
              </a:rPr>
              <a:t>同一人员、区域和设备缺少统一关联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08575" y="2743200"/>
            <a:ext cx="1417320" cy="310896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E2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5151" y="2779776"/>
            <a:ext cx="134416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E26363"/>
                </a:solidFill>
                <a:latin typeface="Microsoft YaHei"/>
              </a:rPr>
              <a:t>信息难以互证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417320"/>
            <a:ext cx="3456432" cy="1847088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600200"/>
            <a:ext cx="457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3AA2B"/>
                </a:solidFill>
                <a:latin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1581912"/>
            <a:ext cx="23774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2F6F7"/>
                </a:solidFill>
                <a:latin typeface="Microsoft YaHei"/>
              </a:rPr>
              <a:t>报警多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8" y="2075688"/>
            <a:ext cx="3017520" cy="4754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97AAB4"/>
                </a:solidFill>
                <a:latin typeface="Microsoft YaHei"/>
              </a:rPr>
              <a:t>大量告警缺少优先级和连续性分析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30768" y="2743200"/>
            <a:ext cx="1417320" cy="310896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E2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67344" y="2779776"/>
            <a:ext cx="134416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E26363"/>
                </a:solidFill>
                <a:latin typeface="Microsoft YaHei"/>
              </a:rPr>
              <a:t>关键风险被淹没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5216" y="3657600"/>
            <a:ext cx="3456432" cy="1847088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3840480"/>
            <a:ext cx="457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3AA2B"/>
                </a:solidFill>
                <a:latin typeface="Microsoft YaHe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16736" y="3822191"/>
            <a:ext cx="23774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2F6F7"/>
                </a:solidFill>
                <a:latin typeface="Microsoft YaHei"/>
              </a:rPr>
              <a:t>报表慢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" y="4315968"/>
            <a:ext cx="3017520" cy="4754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97AAB4"/>
                </a:solidFill>
                <a:latin typeface="Microsoft YaHei"/>
              </a:rPr>
              <a:t>临时汇报依赖人工导出、拼表和解释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" y="4983480"/>
            <a:ext cx="1417320" cy="310896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E2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020056"/>
            <a:ext cx="134416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E26363"/>
                </a:solidFill>
                <a:latin typeface="Microsoft YaHei"/>
              </a:rPr>
              <a:t>管理响应滞后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07407" y="3657600"/>
            <a:ext cx="3456432" cy="1847088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90288" y="3840480"/>
            <a:ext cx="457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3AA2B"/>
                </a:solidFill>
                <a:latin typeface="Microsoft YaHei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38927" y="3822191"/>
            <a:ext cx="23774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2F6F7"/>
                </a:solidFill>
                <a:latin typeface="Microsoft YaHei"/>
              </a:rPr>
              <a:t>维护被动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08575" y="4315968"/>
            <a:ext cx="3017520" cy="4754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97AAB4"/>
                </a:solidFill>
                <a:latin typeface="Microsoft YaHei"/>
              </a:rPr>
              <a:t>监测数据只看当前值，缺少趋势和寿命判断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08575" y="4983480"/>
            <a:ext cx="1417320" cy="310896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E2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45151" y="5020056"/>
            <a:ext cx="134416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E26363"/>
                </a:solidFill>
                <a:latin typeface="Microsoft YaHei"/>
              </a:rPr>
              <a:t>故障后处置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3657600"/>
            <a:ext cx="3456432" cy="1847088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3840480"/>
            <a:ext cx="457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3AA2B"/>
                </a:solidFill>
                <a:latin typeface="Microsoft YaHei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3822191"/>
            <a:ext cx="23774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2F6F7"/>
                </a:solidFill>
                <a:latin typeface="Microsoft YaHei"/>
              </a:rPr>
              <a:t>数据敏感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0768" y="4315968"/>
            <a:ext cx="3017520" cy="4754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97AAB4"/>
                </a:solidFill>
                <a:latin typeface="Microsoft YaHei"/>
              </a:rPr>
              <a:t>人员、生产和设备数据不适合全部上云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30768" y="4983480"/>
            <a:ext cx="1417320" cy="310896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E2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67344" y="5020056"/>
            <a:ext cx="134416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E26363"/>
                </a:solidFill>
                <a:latin typeface="Microsoft YaHei"/>
              </a:rPr>
              <a:t>智能化推进受阻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10896"/>
            <a:ext cx="73152" cy="438912"/>
          </a:xfrm>
          <a:prstGeom prst="rect">
            <a:avLst/>
          </a:prstGeom>
          <a:solidFill>
            <a:srgbClr val="F3AA2B"/>
          </a:solidFill>
          <a:ln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996696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F2F6F7"/>
                </a:solidFill>
                <a:latin typeface="Microsoft YaHei"/>
              </a:rPr>
              <a:t>六位一体的工业智能运营能力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6984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7AAB4"/>
                </a:solidFill>
                <a:latin typeface="Microsoft YaHei"/>
              </a:rPr>
              <a:t>围绕人、地、票、警、设备与生产构建统一业务语义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274320"/>
            <a:ext cx="658368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F3AA2B"/>
                </a:solidFill>
                <a:latin typeface="Microsoft YaHei"/>
              </a:rPr>
              <a:t>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60704"/>
            <a:ext cx="11265408" cy="0"/>
          </a:xfrm>
          <a:prstGeom prst="line">
            <a:avLst/>
          </a:prstGeom>
          <a:ln w="12700">
            <a:solidFill>
              <a:srgbClr val="334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37960"/>
            <a:ext cx="50292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F838E"/>
                </a:solidFill>
                <a:latin typeface="Microsoft YaHei"/>
              </a:rPr>
              <a:t>人员安全智能运营中心｜销售培训资料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94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6F838E"/>
                </a:solidFill>
                <a:latin typeface="Microsoft YaHei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3401568" cy="173736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655064"/>
            <a:ext cx="676656" cy="676656"/>
          </a:xfrm>
          <a:prstGeom prst="roundRect">
            <a:avLst/>
          </a:prstGeom>
          <a:solidFill>
            <a:srgbClr val="F3AA2B"/>
          </a:solidFill>
          <a:ln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28800"/>
            <a:ext cx="676656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A1118"/>
                </a:solidFill>
                <a:latin typeface="Microsoft YaHei"/>
              </a:rPr>
              <a:t>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9072" y="1673352"/>
            <a:ext cx="19202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2F6F7"/>
                </a:solidFill>
                <a:latin typeface="Microsoft YaHei"/>
              </a:rPr>
              <a:t>人的管理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19072" y="2176272"/>
            <a:ext cx="1920240" cy="5486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7AAB4"/>
                </a:solidFill>
                <a:latin typeface="Microsoft YaHei"/>
              </a:rPr>
              <a:t>员工｜承包商｜访客｜组织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1417320"/>
            <a:ext cx="3401568" cy="173736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36008" y="1655064"/>
            <a:ext cx="676656" cy="676656"/>
          </a:xfrm>
          <a:prstGeom prst="roundRect">
            <a:avLst/>
          </a:prstGeom>
          <a:solidFill>
            <a:srgbClr val="28C7B7"/>
          </a:solidFill>
          <a:ln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6008" y="1828800"/>
            <a:ext cx="676656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A1118"/>
                </a:solidFill>
                <a:latin typeface="Microsoft YaHei"/>
              </a:rPr>
              <a:t>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1673352"/>
            <a:ext cx="19202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2F6F7"/>
                </a:solidFill>
                <a:latin typeface="Microsoft YaHei"/>
              </a:rPr>
              <a:t>地的管理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2176272"/>
            <a:ext cx="1920240" cy="5486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7AAB4"/>
                </a:solidFill>
                <a:latin typeface="Microsoft YaHei"/>
              </a:rPr>
              <a:t>实时定位｜轨迹｜区域进出｜三维地图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0456" y="1417320"/>
            <a:ext cx="3401568" cy="173736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4DA9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49056" y="1655064"/>
            <a:ext cx="676656" cy="676656"/>
          </a:xfrm>
          <a:prstGeom prst="roundRect">
            <a:avLst/>
          </a:prstGeom>
          <a:solidFill>
            <a:srgbClr val="4DA9D7"/>
          </a:solidFill>
          <a:ln>
            <a:solidFill>
              <a:srgbClr val="4DA9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49056" y="1828800"/>
            <a:ext cx="676656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A1118"/>
                </a:solidFill>
                <a:latin typeface="Microsoft YaHei"/>
              </a:rPr>
              <a:t>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8" y="1673352"/>
            <a:ext cx="19202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2F6F7"/>
                </a:solidFill>
                <a:latin typeface="Microsoft YaHei"/>
              </a:rPr>
              <a:t>票的管理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5168" y="2176272"/>
            <a:ext cx="1920240" cy="5486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7AAB4"/>
                </a:solidFill>
                <a:latin typeface="Microsoft YaHei"/>
              </a:rPr>
              <a:t>作业票｜合规｜流程｜工时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566160"/>
            <a:ext cx="3401568" cy="173736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E2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" y="3803904"/>
            <a:ext cx="676656" cy="676656"/>
          </a:xfrm>
          <a:prstGeom prst="roundRect">
            <a:avLst/>
          </a:prstGeom>
          <a:solidFill>
            <a:srgbClr val="E26363"/>
          </a:solidFill>
          <a:ln>
            <a:solidFill>
              <a:srgbClr val="E2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977640"/>
            <a:ext cx="676656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A1118"/>
                </a:solidFill>
                <a:latin typeface="Microsoft YaHei"/>
              </a:rPr>
              <a:t>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19072" y="3822192"/>
            <a:ext cx="19202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2F6F7"/>
                </a:solidFill>
                <a:latin typeface="Microsoft YaHei"/>
              </a:rPr>
              <a:t>警的管理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19072" y="4325112"/>
            <a:ext cx="1920240" cy="5486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7AAB4"/>
                </a:solidFill>
                <a:latin typeface="Microsoft YaHei"/>
              </a:rPr>
              <a:t>人员报警｜异常驻留｜疲劳风险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07408" y="3566160"/>
            <a:ext cx="3401568" cy="173736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49C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636008" y="3803904"/>
            <a:ext cx="676656" cy="676656"/>
          </a:xfrm>
          <a:prstGeom prst="roundRect">
            <a:avLst/>
          </a:prstGeom>
          <a:solidFill>
            <a:srgbClr val="49C486"/>
          </a:solidFill>
          <a:ln>
            <a:solidFill>
              <a:srgbClr val="49C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36008" y="3977640"/>
            <a:ext cx="676656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A1118"/>
                </a:solidFill>
                <a:latin typeface="Microsoft YaHei"/>
              </a:rPr>
              <a:t>设备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3822192"/>
            <a:ext cx="19202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2F6F7"/>
                </a:solidFill>
                <a:latin typeface="Microsoft YaHei"/>
              </a:rPr>
              <a:t>设备的管理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2120" y="4325112"/>
            <a:ext cx="1920240" cy="5486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7AAB4"/>
                </a:solidFill>
                <a:latin typeface="Microsoft YaHei"/>
              </a:rPr>
              <a:t>健康度｜状态监测｜故障预测｜RUL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0456" y="3566160"/>
            <a:ext cx="3401568" cy="173736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8B7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449056" y="3803904"/>
            <a:ext cx="676656" cy="676656"/>
          </a:xfrm>
          <a:prstGeom prst="roundRect">
            <a:avLst/>
          </a:prstGeom>
          <a:solidFill>
            <a:srgbClr val="8B79E8"/>
          </a:solidFill>
          <a:ln>
            <a:solidFill>
              <a:srgbClr val="8B7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3977640"/>
            <a:ext cx="676656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A1118"/>
                </a:solidFill>
                <a:latin typeface="Microsoft YaHei"/>
              </a:rPr>
              <a:t>生产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45168" y="3822192"/>
            <a:ext cx="19202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2F6F7"/>
                </a:solidFill>
                <a:latin typeface="Microsoft YaHei"/>
              </a:rPr>
              <a:t>生产的管理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45168" y="4325112"/>
            <a:ext cx="1920240" cy="5486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7AAB4"/>
                </a:solidFill>
                <a:latin typeface="Microsoft YaHei"/>
              </a:rPr>
              <a:t>电｜热｜气｜调度｜能效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760720"/>
            <a:ext cx="1078992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3AA2B"/>
                </a:solidFill>
                <a:latin typeface="Microsoft YaHei"/>
              </a:rPr>
              <a:t>统一智能入口 · 60 项业务接口 · 动态工具路由 · 多模型协同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10896"/>
            <a:ext cx="73152" cy="438912"/>
          </a:xfrm>
          <a:prstGeom prst="rect">
            <a:avLst/>
          </a:prstGeom>
          <a:solidFill>
            <a:srgbClr val="F3AA2B"/>
          </a:solidFill>
          <a:ln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996696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F2F6F7"/>
                </a:solidFill>
                <a:latin typeface="Microsoft YaHei"/>
              </a:rPr>
              <a:t>产品总体架构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6984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7AAB4"/>
                </a:solidFill>
                <a:latin typeface="Microsoft YaHei"/>
              </a:rPr>
              <a:t>保留客户现有系统，以智能层形成统一入口和业务关联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274320"/>
            <a:ext cx="658368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F3AA2B"/>
                </a:solidFill>
                <a:latin typeface="Microsoft YaHei"/>
              </a:rPr>
              <a:t>06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60704"/>
            <a:ext cx="11265408" cy="0"/>
          </a:xfrm>
          <a:prstGeom prst="line">
            <a:avLst/>
          </a:prstGeom>
          <a:ln w="12700">
            <a:solidFill>
              <a:srgbClr val="334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37960"/>
            <a:ext cx="50292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F838E"/>
                </a:solidFill>
                <a:latin typeface="Microsoft YaHei"/>
              </a:rPr>
              <a:t>人员安全智能运营中心｜销售培训资料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94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6F838E"/>
                </a:solidFill>
                <a:latin typeface="Microsoft YaHei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325880"/>
            <a:ext cx="10652760" cy="658368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508760"/>
            <a:ext cx="13258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3AA2B"/>
                </a:solidFill>
                <a:latin typeface="Microsoft YaHei"/>
              </a:rPr>
              <a:t>交互层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1508760"/>
            <a:ext cx="84582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6F7"/>
                </a:solidFill>
                <a:latin typeface="Microsoft YaHei"/>
              </a:rPr>
              <a:t>管理驾驶舱｜自然语言对话｜移动端｜报表与三维地图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240280"/>
            <a:ext cx="10652760" cy="658368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423160"/>
            <a:ext cx="13258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8C7B7"/>
                </a:solidFill>
                <a:latin typeface="Microsoft YaHei"/>
              </a:rPr>
              <a:t>智能层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423160"/>
            <a:ext cx="84582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6F7"/>
                </a:solidFill>
                <a:latin typeface="Microsoft YaHei"/>
              </a:rPr>
              <a:t>意图识别｜动态工具路由｜知识检索｜模型编排｜结果校验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154680"/>
            <a:ext cx="10652760" cy="658368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4DA9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337560"/>
            <a:ext cx="13258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4DA9D7"/>
                </a:solidFill>
                <a:latin typeface="Microsoft YaHei"/>
              </a:rPr>
              <a:t>业务能力层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337560"/>
            <a:ext cx="84582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6F7"/>
                </a:solidFill>
                <a:latin typeface="Microsoft YaHei"/>
              </a:rPr>
              <a:t>人员安全｜作业合规｜能源运营｜预测性维护｜报警闭环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069080"/>
            <a:ext cx="10652760" cy="658368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49C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251960"/>
            <a:ext cx="13258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49C486"/>
                </a:solidFill>
                <a:latin typeface="Microsoft YaHei"/>
              </a:rPr>
              <a:t>数据接入层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251960"/>
            <a:ext cx="84582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6F7"/>
                </a:solidFill>
                <a:latin typeface="Microsoft YaHei"/>
              </a:rPr>
              <a:t>API｜数据库｜消息总线｜时序数据｜文件与制度知识库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983480"/>
            <a:ext cx="10652760" cy="658368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667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5166360"/>
            <a:ext cx="13258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667985"/>
                </a:solidFill>
                <a:latin typeface="Microsoft YaHei"/>
              </a:rPr>
              <a:t>现场系统层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5166360"/>
            <a:ext cx="84582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6F7"/>
                </a:solidFill>
                <a:latin typeface="Microsoft YaHei"/>
              </a:rPr>
              <a:t>定位｜门禁｜作业票｜DCS/SCADA｜EAM/CMMS｜IoT 终端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053328"/>
            <a:ext cx="1065276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3AA2B"/>
                </a:solidFill>
                <a:latin typeface="Microsoft YaHei"/>
              </a:rPr>
              <a:t>核心原则：不推翻原有系统，不复制业务流程，用智能入口释放现有数据价值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10896"/>
            <a:ext cx="73152" cy="438912"/>
          </a:xfrm>
          <a:prstGeom prst="rect">
            <a:avLst/>
          </a:prstGeom>
          <a:solidFill>
            <a:srgbClr val="F3AA2B"/>
          </a:solidFill>
          <a:ln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996696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F2F6F7"/>
                </a:solidFill>
                <a:latin typeface="Microsoft YaHei"/>
              </a:rPr>
              <a:t>人员与承包商：从档案管理到现场态势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6984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7AAB4"/>
                </a:solidFill>
                <a:latin typeface="Microsoft YaHei"/>
              </a:rPr>
              <a:t>回答三个问题：谁在现场、现在在哪、是否符合准入和作业要求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274320"/>
            <a:ext cx="658368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F3AA2B"/>
                </a:solidFill>
                <a:latin typeface="Microsoft YaHei"/>
              </a:rPr>
              <a:t>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60704"/>
            <a:ext cx="11265408" cy="0"/>
          </a:xfrm>
          <a:prstGeom prst="line">
            <a:avLst/>
          </a:prstGeom>
          <a:ln w="12700">
            <a:solidFill>
              <a:srgbClr val="334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37960"/>
            <a:ext cx="50292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F838E"/>
                </a:solidFill>
                <a:latin typeface="Microsoft YaHei"/>
              </a:rPr>
              <a:t>人员安全智能运营中心｜销售培训资料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94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6F838E"/>
                </a:solidFill>
                <a:latin typeface="Microsoft YaHei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08760"/>
            <a:ext cx="1965960" cy="141732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719072"/>
            <a:ext cx="1627632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8C7B7"/>
                </a:solidFill>
                <a:latin typeface="Microsoft YaHei"/>
              </a:rPr>
              <a:t>身份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139696"/>
            <a:ext cx="1664208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97AAB4"/>
                </a:solidFill>
                <a:latin typeface="Microsoft YaHei"/>
              </a:rPr>
              <a:t>员工/承包商/访客
组织与岗位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2888" y="1965960"/>
            <a:ext cx="2286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F3AA2B"/>
                </a:solidFill>
                <a:latin typeface="Microsoft YaHe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7208" y="1508760"/>
            <a:ext cx="1965960" cy="141732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719072"/>
            <a:ext cx="1627632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8C7B7"/>
                </a:solidFill>
                <a:latin typeface="Microsoft YaHei"/>
              </a:rPr>
              <a:t>准入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2" y="2139696"/>
            <a:ext cx="1664208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97AAB4"/>
                </a:solidFill>
                <a:latin typeface="Microsoft YaHei"/>
              </a:rPr>
              <a:t>培训/资质/门禁
考勤与排班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7176" y="1965960"/>
            <a:ext cx="2286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F3AA2B"/>
                </a:solidFill>
                <a:latin typeface="Microsoft YaHe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11496" y="1508760"/>
            <a:ext cx="1965960" cy="141732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76088" y="1719072"/>
            <a:ext cx="1627632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8C7B7"/>
                </a:solidFill>
                <a:latin typeface="Microsoft YaHei"/>
              </a:rPr>
              <a:t>在场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139696"/>
            <a:ext cx="1664208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97AAB4"/>
                </a:solidFill>
                <a:latin typeface="Microsoft YaHei"/>
              </a:rPr>
              <a:t>实时位置/在线状态
区域人数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1464" y="1965960"/>
            <a:ext cx="2286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F3AA2B"/>
                </a:solidFill>
                <a:latin typeface="Microsoft YaHe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15784" y="1508760"/>
            <a:ext cx="1965960" cy="141732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0376" y="1719072"/>
            <a:ext cx="1627632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8C7B7"/>
                </a:solidFill>
                <a:latin typeface="Microsoft YaHei"/>
              </a:rPr>
              <a:t>行为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2139696"/>
            <a:ext cx="1664208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97AAB4"/>
                </a:solidFill>
                <a:latin typeface="Microsoft YaHei"/>
              </a:rPr>
              <a:t>轨迹/进出/驻留
劳动强度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5752" y="1965960"/>
            <a:ext cx="2286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F3AA2B"/>
                </a:solidFill>
                <a:latin typeface="Microsoft YaHei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20072" y="1508760"/>
            <a:ext cx="1965960" cy="141732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84664" y="1719072"/>
            <a:ext cx="1627632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3AA2B"/>
                </a:solidFill>
                <a:latin typeface="Microsoft YaHei"/>
              </a:rPr>
              <a:t>闭环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66376" y="2139696"/>
            <a:ext cx="1664208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97AAB4"/>
                </a:solidFill>
                <a:latin typeface="Microsoft YaHei"/>
              </a:rPr>
              <a:t>报警/处置/复盘
责任追溯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429000"/>
            <a:ext cx="10972800" cy="2084831"/>
          </a:xfrm>
          <a:prstGeom prst="roundRect">
            <a:avLst/>
          </a:prstGeom>
          <a:solidFill>
            <a:srgbClr val="0E1A22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703320"/>
            <a:ext cx="18288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3AA2B"/>
                </a:solidFill>
                <a:latin typeface="Microsoft YaHei"/>
              </a:rPr>
              <a:t>客户可直接提问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160520"/>
            <a:ext cx="5577840" cy="10972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>
              <a:spcAft>
                <a:spcPts val="1100"/>
              </a:spcAft>
              <a:defRPr sz="1300" b="0">
                <a:solidFill>
                  <a:srgbClr val="F2F6F7"/>
                </a:solidFill>
                <a:latin typeface="Microsoft YaHei"/>
              </a:defRPr>
            </a:pPr>
            <a:r>
              <a:t>•  “当前一号装置区有多少承包商？”</a:t>
            </a:r>
          </a:p>
          <a:p>
            <a:pPr>
              <a:spcAft>
                <a:spcPts val="1100"/>
              </a:spcAft>
              <a:defRPr sz="1300" b="0">
                <a:solidFill>
                  <a:srgbClr val="F2F6F7"/>
                </a:solidFill>
                <a:latin typeface="Microsoft YaHei"/>
              </a:defRPr>
            </a:pPr>
            <a:r>
              <a:t>•  “张伟今天经过了哪些区域？”</a:t>
            </a:r>
          </a:p>
          <a:p>
            <a:pPr>
              <a:spcAft>
                <a:spcPts val="1100"/>
              </a:spcAft>
              <a:defRPr sz="1300" b="0">
                <a:solidFill>
                  <a:srgbClr val="F2F6F7"/>
                </a:solidFill>
                <a:latin typeface="Microsoft YaHei"/>
              </a:defRPr>
            </a:pPr>
            <a:r>
              <a:t>•  “哪些人员存在异常驻留或疲劳风险？”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703320"/>
            <a:ext cx="14630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8C7B7"/>
                </a:solidFill>
                <a:latin typeface="Microsoft YaHei"/>
              </a:rPr>
              <a:t>销售价值点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160520"/>
            <a:ext cx="3657600" cy="10972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>
              <a:spcAft>
                <a:spcPts val="1100"/>
              </a:spcAft>
              <a:defRPr sz="1300" b="0">
                <a:solidFill>
                  <a:srgbClr val="F2F6F7"/>
                </a:solidFill>
                <a:latin typeface="Microsoft YaHei"/>
              </a:defRPr>
            </a:pPr>
            <a:r>
              <a:t>•  缩短人员查找时间</a:t>
            </a:r>
          </a:p>
          <a:p>
            <a:pPr>
              <a:spcAft>
                <a:spcPts val="1100"/>
              </a:spcAft>
              <a:defRPr sz="1300" b="0">
                <a:solidFill>
                  <a:srgbClr val="F2F6F7"/>
                </a:solidFill>
                <a:latin typeface="Microsoft YaHei"/>
              </a:defRPr>
            </a:pPr>
            <a:r>
              <a:t>•  强化承包商全过程管理</a:t>
            </a:r>
          </a:p>
          <a:p>
            <a:pPr>
              <a:spcAft>
                <a:spcPts val="1100"/>
              </a:spcAft>
              <a:defRPr sz="1300" b="0">
                <a:solidFill>
                  <a:srgbClr val="F2F6F7"/>
                </a:solidFill>
                <a:latin typeface="Microsoft YaHei"/>
              </a:defRPr>
            </a:pPr>
            <a:r>
              <a:t>•  为应急处置提供位置依据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10896"/>
            <a:ext cx="73152" cy="438912"/>
          </a:xfrm>
          <a:prstGeom prst="rect">
            <a:avLst/>
          </a:prstGeom>
          <a:solidFill>
            <a:srgbClr val="F3AA2B"/>
          </a:solidFill>
          <a:ln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996696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F2F6F7"/>
                </a:solidFill>
                <a:latin typeface="Microsoft YaHei"/>
              </a:rPr>
              <a:t>透明建筑数字孪生：让现场位置一眼可见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6984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7AAB4"/>
                </a:solidFill>
                <a:latin typeface="Microsoft YaHei"/>
              </a:rPr>
              <a:t>以建筑透视方式呈现人员、风险区域、道路和空间状态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274320"/>
            <a:ext cx="658368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F3AA2B"/>
                </a:solidFill>
                <a:latin typeface="Microsoft YaHei"/>
              </a:rPr>
              <a:t>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60704"/>
            <a:ext cx="11265408" cy="0"/>
          </a:xfrm>
          <a:prstGeom prst="line">
            <a:avLst/>
          </a:prstGeom>
          <a:ln w="12700">
            <a:solidFill>
              <a:srgbClr val="334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37960"/>
            <a:ext cx="50292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F838E"/>
                </a:solidFill>
                <a:latin typeface="Microsoft YaHei"/>
              </a:rPr>
              <a:t>人员安全智能运营中心｜销售培训资料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94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6F838E"/>
                </a:solidFill>
                <a:latin typeface="Microsoft YaHei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6629400" cy="4754880"/>
          </a:xfrm>
          <a:prstGeom prst="roundRect">
            <a:avLst/>
          </a:prstGeom>
          <a:solidFill>
            <a:srgbClr val="101920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6144768" cy="256032"/>
          </a:xfrm>
          <a:prstGeom prst="rect">
            <a:avLst/>
          </a:prstGeom>
          <a:solidFill>
            <a:srgbClr val="2B3439"/>
          </a:solidFill>
          <a:ln>
            <a:solidFill>
              <a:srgbClr val="2B3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25496"/>
            <a:ext cx="5943600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F3AA2B"/>
                </a:solidFill>
                <a:latin typeface="Microsoft YaHei"/>
              </a:rPr>
              <a:t>-  -  -  -  -  -  -  -  -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54880"/>
            <a:ext cx="6144768" cy="256032"/>
          </a:xfrm>
          <a:prstGeom prst="rect">
            <a:avLst/>
          </a:prstGeom>
          <a:solidFill>
            <a:srgbClr val="2B3439"/>
          </a:solidFill>
          <a:ln>
            <a:solidFill>
              <a:srgbClr val="2B3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91456"/>
            <a:ext cx="5943600" cy="14630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F3AA2B"/>
                </a:solidFill>
                <a:latin typeface="Microsoft YaHei"/>
              </a:rPr>
              <a:t>-  -  -  -  -  -  -  -  -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1600200"/>
            <a:ext cx="1508760" cy="960120"/>
          </a:xfrm>
          <a:prstGeom prst="rect">
            <a:avLst/>
          </a:prstGeom>
          <a:solidFill>
            <a:srgbClr val="243943"/>
          </a:solidFill>
          <a:ln w="15240">
            <a:solidFill>
              <a:srgbClr val="668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331720"/>
            <a:ext cx="136245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2F6F7"/>
                </a:solidFill>
                <a:latin typeface="Microsoft YaHei"/>
              </a:rPr>
              <a:t>中控楼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1536192"/>
            <a:ext cx="1965960" cy="1051560"/>
          </a:xfrm>
          <a:prstGeom prst="rect">
            <a:avLst/>
          </a:prstGeom>
          <a:solidFill>
            <a:srgbClr val="243943"/>
          </a:solidFill>
          <a:ln w="15240"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16352" y="2359152"/>
            <a:ext cx="181965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2F6F7"/>
                </a:solidFill>
                <a:latin typeface="Microsoft YaHei"/>
              </a:rPr>
              <a:t>一号装置区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1768" y="1664208"/>
            <a:ext cx="1600200" cy="896112"/>
          </a:xfrm>
          <a:prstGeom prst="rect">
            <a:avLst/>
          </a:prstGeom>
          <a:solidFill>
            <a:srgbClr val="243943"/>
          </a:solidFill>
          <a:ln w="15240">
            <a:solidFill>
              <a:srgbClr val="668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2331720"/>
            <a:ext cx="145389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2F6F7"/>
                </a:solidFill>
                <a:latin typeface="Microsoft YaHei"/>
              </a:rPr>
              <a:t>配电室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3337560"/>
            <a:ext cx="1920240" cy="960120"/>
          </a:xfrm>
          <a:prstGeom prst="rect">
            <a:avLst/>
          </a:prstGeom>
          <a:solidFill>
            <a:srgbClr val="243943"/>
          </a:solidFill>
          <a:ln w="15240">
            <a:solidFill>
              <a:srgbClr val="668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24712" y="4069080"/>
            <a:ext cx="177393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2F6F7"/>
                </a:solidFill>
                <a:latin typeface="Microsoft YaHei"/>
              </a:rPr>
              <a:t>检修车间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3246120"/>
            <a:ext cx="1417320" cy="1078992"/>
          </a:xfrm>
          <a:prstGeom prst="rect">
            <a:avLst/>
          </a:prstGeom>
          <a:solidFill>
            <a:srgbClr val="243943"/>
          </a:solidFill>
          <a:ln w="15240">
            <a:solidFill>
              <a:srgbClr val="668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10712" y="4096511"/>
            <a:ext cx="127101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2F6F7"/>
                </a:solidFill>
                <a:latin typeface="Microsoft YaHei"/>
              </a:rPr>
              <a:t>罐区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4920" y="3364992"/>
            <a:ext cx="1417320" cy="932688"/>
          </a:xfrm>
          <a:prstGeom prst="rect">
            <a:avLst/>
          </a:prstGeom>
          <a:solidFill>
            <a:srgbClr val="243943"/>
          </a:solidFill>
          <a:ln w="15240"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48072" y="4069080"/>
            <a:ext cx="1271016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2F6F7"/>
                </a:solidFill>
                <a:latin typeface="Microsoft YaHei"/>
              </a:rPr>
              <a:t>动力泵房</a:t>
            </a:r>
          </a:p>
        </p:txBody>
      </p:sp>
      <p:sp>
        <p:nvSpPr>
          <p:cNvPr id="26" name="Oval 25"/>
          <p:cNvSpPr/>
          <p:nvPr/>
        </p:nvSpPr>
        <p:spPr>
          <a:xfrm>
            <a:off x="3310128" y="1920240"/>
            <a:ext cx="173736" cy="173736"/>
          </a:xfrm>
          <a:prstGeom prst="ellipse">
            <a:avLst/>
          </a:prstGeom>
          <a:solidFill>
            <a:srgbClr val="49C486"/>
          </a:solidFill>
          <a:ln>
            <a:solidFill>
              <a:srgbClr val="F2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9816" y="1682496"/>
            <a:ext cx="603504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750" b="1">
                <a:solidFill>
                  <a:srgbClr val="F2F6F7"/>
                </a:solidFill>
                <a:latin typeface="Microsoft YaHei"/>
              </a:rPr>
              <a:t>张伟</a:t>
            </a:r>
          </a:p>
        </p:txBody>
      </p:sp>
      <p:sp>
        <p:nvSpPr>
          <p:cNvPr id="28" name="Oval 27"/>
          <p:cNvSpPr/>
          <p:nvPr/>
        </p:nvSpPr>
        <p:spPr>
          <a:xfrm>
            <a:off x="3886200" y="2176272"/>
            <a:ext cx="173736" cy="173736"/>
          </a:xfrm>
          <a:prstGeom prst="ellipse">
            <a:avLst/>
          </a:prstGeom>
          <a:solidFill>
            <a:srgbClr val="49C486"/>
          </a:solidFill>
          <a:ln>
            <a:solidFill>
              <a:srgbClr val="F2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75887" y="1938528"/>
            <a:ext cx="603504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750" b="1">
                <a:solidFill>
                  <a:srgbClr val="F2F6F7"/>
                </a:solidFill>
                <a:latin typeface="Microsoft YaHei"/>
              </a:rPr>
              <a:t>李强</a:t>
            </a:r>
          </a:p>
        </p:txBody>
      </p:sp>
      <p:sp>
        <p:nvSpPr>
          <p:cNvPr id="30" name="Oval 29"/>
          <p:cNvSpPr/>
          <p:nvPr/>
        </p:nvSpPr>
        <p:spPr>
          <a:xfrm>
            <a:off x="5715000" y="3703320"/>
            <a:ext cx="173736" cy="173736"/>
          </a:xfrm>
          <a:prstGeom prst="ellipse">
            <a:avLst/>
          </a:prstGeom>
          <a:solidFill>
            <a:srgbClr val="49C486"/>
          </a:solidFill>
          <a:ln>
            <a:solidFill>
              <a:srgbClr val="F2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04688" y="3465576"/>
            <a:ext cx="603504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750" b="1">
                <a:solidFill>
                  <a:srgbClr val="F2F6F7"/>
                </a:solidFill>
                <a:latin typeface="Microsoft YaHei"/>
              </a:rPr>
              <a:t>王磊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230368"/>
            <a:ext cx="57607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3AA2B"/>
                </a:solidFill>
                <a:latin typeface="Microsoft YaHei"/>
              </a:rPr>
              <a:t>透明建筑 · 人员在建筑内部显示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1417320"/>
            <a:ext cx="18288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3AA2B"/>
                </a:solidFill>
                <a:latin typeface="Microsoft YaHei"/>
              </a:rPr>
              <a:t>客户价值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2011680"/>
            <a:ext cx="3703320" cy="24688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>
              <a:spcAft>
                <a:spcPts val="1400"/>
              </a:spcAft>
              <a:defRPr sz="1400" b="0">
                <a:solidFill>
                  <a:srgbClr val="F2F6F7"/>
                </a:solidFill>
                <a:latin typeface="Microsoft YaHei"/>
              </a:defRPr>
            </a:pPr>
            <a:r>
              <a:t>•  快速确认人员所在建筑和区域</a:t>
            </a:r>
          </a:p>
          <a:p>
            <a:pPr>
              <a:spcAft>
                <a:spcPts val="1400"/>
              </a:spcAft>
              <a:defRPr sz="1400" b="0">
                <a:solidFill>
                  <a:srgbClr val="F2F6F7"/>
                </a:solidFill>
                <a:latin typeface="Microsoft YaHei"/>
              </a:defRPr>
            </a:pPr>
            <a:r>
              <a:t>•  直观看到风险区内人员分布</a:t>
            </a:r>
          </a:p>
          <a:p>
            <a:pPr>
              <a:spcAft>
                <a:spcPts val="1400"/>
              </a:spcAft>
              <a:defRPr sz="1400" b="0">
                <a:solidFill>
                  <a:srgbClr val="F2F6F7"/>
                </a:solidFill>
                <a:latin typeface="Microsoft YaHei"/>
              </a:defRPr>
            </a:pPr>
            <a:r>
              <a:t>•  支持实时定位数据动态更新</a:t>
            </a:r>
          </a:p>
          <a:p>
            <a:pPr>
              <a:spcAft>
                <a:spcPts val="1400"/>
              </a:spcAft>
              <a:defRPr sz="1400" b="0">
                <a:solidFill>
                  <a:srgbClr val="F2F6F7"/>
                </a:solidFill>
                <a:latin typeface="Microsoft YaHei"/>
              </a:defRPr>
            </a:pPr>
            <a:r>
              <a:t>•  应急场景中辅助人员清点</a:t>
            </a:r>
          </a:p>
          <a:p>
            <a:pPr>
              <a:spcAft>
                <a:spcPts val="1400"/>
              </a:spcAft>
              <a:defRPr sz="1400" b="0">
                <a:solidFill>
                  <a:srgbClr val="F2F6F7"/>
                </a:solidFill>
                <a:latin typeface="Microsoft YaHei"/>
              </a:defRPr>
            </a:pPr>
            <a:r>
              <a:t>•  与人员名单和报警信息联动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35240" y="5010912"/>
            <a:ext cx="3154680" cy="310896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5" y="5047488"/>
            <a:ext cx="308152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28C7B7"/>
                </a:solidFill>
                <a:latin typeface="Microsoft YaHei"/>
              </a:rPr>
              <a:t>可对接 RFID / UWB / AoA / GPS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10896"/>
            <a:ext cx="73152" cy="438912"/>
          </a:xfrm>
          <a:prstGeom prst="rect">
            <a:avLst/>
          </a:prstGeom>
          <a:solidFill>
            <a:srgbClr val="F3AA2B"/>
          </a:solidFill>
          <a:ln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996696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F2F6F7"/>
                </a:solidFill>
                <a:latin typeface="Microsoft YaHei"/>
              </a:rPr>
              <a:t>作业票合规：把票面要求与现场行为关联起来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6984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7AAB4"/>
                </a:solidFill>
                <a:latin typeface="Microsoft YaHei"/>
              </a:rPr>
              <a:t>从单票查询升级为趋势、规则、流程与人员活动的综合分析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274320"/>
            <a:ext cx="658368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F3AA2B"/>
                </a:solidFill>
                <a:latin typeface="Microsoft YaHei"/>
              </a:rPr>
              <a:t>09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60704"/>
            <a:ext cx="11265408" cy="0"/>
          </a:xfrm>
          <a:prstGeom prst="line">
            <a:avLst/>
          </a:prstGeom>
          <a:ln w="12700">
            <a:solidFill>
              <a:srgbClr val="334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37960"/>
            <a:ext cx="50292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F838E"/>
                </a:solidFill>
                <a:latin typeface="Microsoft YaHei"/>
              </a:rPr>
              <a:t>人员安全智能运营中心｜销售培训资料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94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6F838E"/>
                </a:solidFill>
                <a:latin typeface="Microsoft YaHei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81328"/>
            <a:ext cx="1700784" cy="123444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82496"/>
            <a:ext cx="1335024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3AA2B"/>
                </a:solidFill>
                <a:latin typeface="Microsoft YaHei"/>
              </a:rPr>
              <a:t>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103120"/>
            <a:ext cx="1371600" cy="42062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97AAB4"/>
                </a:solidFill>
                <a:latin typeface="Microsoft YaHei"/>
              </a:rPr>
              <a:t>许可范围
许可时间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9152" y="1874519"/>
            <a:ext cx="457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667A84"/>
                </a:solidFill>
                <a:latin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1481328"/>
            <a:ext cx="1700784" cy="123444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1682496"/>
            <a:ext cx="1335024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8C7B7"/>
                </a:solidFill>
                <a:latin typeface="Microsoft YaHei"/>
              </a:rPr>
              <a:t>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2103120"/>
            <a:ext cx="1371600" cy="42062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97AAB4"/>
                </a:solidFill>
                <a:latin typeface="Microsoft YaHei"/>
              </a:rPr>
              <a:t>责任人
作业人员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1874519"/>
            <a:ext cx="457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667A84"/>
                </a:solidFill>
                <a:latin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60" y="1481328"/>
            <a:ext cx="1700784" cy="123444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1682496"/>
            <a:ext cx="1335024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8C7B7"/>
                </a:solidFill>
                <a:latin typeface="Microsoft YaHei"/>
              </a:rPr>
              <a:t>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0952" y="2103120"/>
            <a:ext cx="1371600" cy="42062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97AAB4"/>
                </a:solidFill>
                <a:latin typeface="Microsoft YaHei"/>
              </a:rPr>
              <a:t>实际区域
进出轨迹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1874519"/>
            <a:ext cx="457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667A84"/>
                </a:solidFill>
                <a:latin typeface="Microsoft YaHe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1481328"/>
            <a:ext cx="1700784" cy="123444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1682496"/>
            <a:ext cx="1335024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8C7B7"/>
                </a:solidFill>
                <a:latin typeface="Microsoft YaHei"/>
              </a:rPr>
              <a:t>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2" y="2103120"/>
            <a:ext cx="1371600" cy="42062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97AAB4"/>
                </a:solidFill>
                <a:latin typeface="Microsoft YaHei"/>
              </a:rPr>
              <a:t>规则校验
违规排行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2" y="1874519"/>
            <a:ext cx="457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667A84"/>
                </a:solidFill>
                <a:latin typeface="Microsoft YaHe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38360" y="1481328"/>
            <a:ext cx="1700784" cy="123444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40" y="1682496"/>
            <a:ext cx="1335024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3AA2B"/>
                </a:solidFill>
                <a:latin typeface="Microsoft YaHei"/>
              </a:rPr>
              <a:t>闭环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2952" y="2103120"/>
            <a:ext cx="1371600" cy="42062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97AAB4"/>
                </a:solidFill>
                <a:latin typeface="Microsoft YaHei"/>
              </a:rPr>
              <a:t>处置结果
复盘改进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246120"/>
            <a:ext cx="3337560" cy="804672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3374136"/>
            <a:ext cx="914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28C7B7"/>
                </a:solidFill>
                <a:latin typeface="Microsoft YaHei"/>
              </a:rPr>
              <a:t>合规统计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73936" y="3374136"/>
            <a:ext cx="201168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7AAB4"/>
                </a:solidFill>
                <a:latin typeface="Microsoft YaHei"/>
              </a:rPr>
              <a:t>按日期、票种、部门、单位聚合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61688" y="3246120"/>
            <a:ext cx="3337560" cy="804672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07992" y="3374136"/>
            <a:ext cx="914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28C7B7"/>
                </a:solidFill>
                <a:latin typeface="Microsoft YaHei"/>
              </a:rPr>
              <a:t>趋势分析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77255" y="3374136"/>
            <a:ext cx="201168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7AAB4"/>
                </a:solidFill>
                <a:latin typeface="Microsoft YaHei"/>
              </a:rPr>
              <a:t>按日/月查看合规变化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65008" y="3246120"/>
            <a:ext cx="3337560" cy="804672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2" y="3374136"/>
            <a:ext cx="914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28C7B7"/>
                </a:solidFill>
                <a:latin typeface="Microsoft YaHei"/>
              </a:rPr>
              <a:t>规则排行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0576" y="3374136"/>
            <a:ext cx="201168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7AAB4"/>
                </a:solidFill>
                <a:latin typeface="Microsoft YaHei"/>
              </a:rPr>
              <a:t>识别高频违规规则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297679"/>
            <a:ext cx="3337560" cy="804672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4425695"/>
            <a:ext cx="914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28C7B7"/>
                </a:solidFill>
                <a:latin typeface="Microsoft YaHei"/>
              </a:rPr>
              <a:t>流程分析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73936" y="4425695"/>
            <a:ext cx="201168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7AAB4"/>
                </a:solidFill>
                <a:latin typeface="Microsoft YaHei"/>
              </a:rPr>
              <a:t>定位审批与执行耗时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61688" y="4297679"/>
            <a:ext cx="3337560" cy="804672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07992" y="4425695"/>
            <a:ext cx="914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28C7B7"/>
                </a:solidFill>
                <a:latin typeface="Microsoft YaHei"/>
              </a:rPr>
              <a:t>工时核算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77255" y="4425695"/>
            <a:ext cx="201168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7AAB4"/>
                </a:solidFill>
                <a:latin typeface="Microsoft YaHei"/>
              </a:rPr>
              <a:t>按人员和承包商汇总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10896"/>
            <a:ext cx="73152" cy="438912"/>
          </a:xfrm>
          <a:prstGeom prst="rect">
            <a:avLst/>
          </a:prstGeom>
          <a:solidFill>
            <a:srgbClr val="F3AA2B"/>
          </a:solidFill>
          <a:ln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996696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F2F6F7"/>
                </a:solidFill>
                <a:latin typeface="Microsoft YaHei"/>
              </a:rPr>
              <a:t>报警与人员风险：从报警列表到处置优先级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6984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7AAB4"/>
                </a:solidFill>
                <a:latin typeface="Microsoft YaHei"/>
              </a:rPr>
              <a:t>识别连续报警、高频区域、异常驻留和疲劳风险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274320"/>
            <a:ext cx="658368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F3AA2B"/>
                </a:solidFill>
                <a:latin typeface="Microsoft YaHei"/>
              </a:rPr>
              <a:t>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60704"/>
            <a:ext cx="11265408" cy="0"/>
          </a:xfrm>
          <a:prstGeom prst="line">
            <a:avLst/>
          </a:prstGeom>
          <a:ln w="12700">
            <a:solidFill>
              <a:srgbClr val="334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37960"/>
            <a:ext cx="50292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F838E"/>
                </a:solidFill>
                <a:latin typeface="Microsoft YaHei"/>
              </a:rPr>
              <a:t>人员安全智能运营中心｜销售培训资料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94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6F838E"/>
                </a:solidFill>
                <a:latin typeface="Microsoft YaHe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17320"/>
            <a:ext cx="2468880" cy="932688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536192"/>
            <a:ext cx="2249424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E26363"/>
                </a:solidFill>
                <a:latin typeface="Microsoft YaHei"/>
              </a:rPr>
              <a:t>七类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38528"/>
            <a:ext cx="2249424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7AAB4"/>
                </a:solidFill>
                <a:latin typeface="Microsoft YaHei"/>
              </a:rPr>
              <a:t>人员安全报警统一汇总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0128" y="1417320"/>
            <a:ext cx="2468880" cy="932688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9856" y="1536192"/>
            <a:ext cx="2249424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3AA2B"/>
                </a:solidFill>
                <a:latin typeface="Microsoft YaHei"/>
              </a:rPr>
              <a:t>连续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9856" y="1938528"/>
            <a:ext cx="2249424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7AAB4"/>
                </a:solidFill>
                <a:latin typeface="Microsoft YaHei"/>
              </a:rPr>
              <a:t>识别重复与持续报警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61888" y="1417320"/>
            <a:ext cx="2468880" cy="932688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71616" y="1536192"/>
            <a:ext cx="2249424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28C7B7"/>
                </a:solidFill>
                <a:latin typeface="Microsoft YaHei"/>
              </a:rPr>
              <a:t>时长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1938528"/>
            <a:ext cx="2249424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7AAB4"/>
                </a:solidFill>
                <a:latin typeface="Microsoft YaHei"/>
              </a:rPr>
              <a:t>统计发现到处置闭环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13648" y="1417320"/>
            <a:ext cx="2468880" cy="932688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3376" y="1536192"/>
            <a:ext cx="2249424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4DA9D7"/>
                </a:solidFill>
                <a:latin typeface="Microsoft YaHei"/>
              </a:rPr>
              <a:t>强度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3376" y="1938528"/>
            <a:ext cx="2249424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7AAB4"/>
                </a:solidFill>
                <a:latin typeface="Microsoft YaHei"/>
              </a:rPr>
              <a:t>驻留、距离与疲劳分析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2761488"/>
            <a:ext cx="10972800" cy="260604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017520"/>
            <a:ext cx="18288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3AA2B"/>
                </a:solidFill>
                <a:latin typeface="Microsoft YaHei"/>
              </a:rPr>
              <a:t>风险研判链路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" y="3657600"/>
            <a:ext cx="1298448" cy="603504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E2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3840480"/>
            <a:ext cx="1152144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E26363"/>
                </a:solidFill>
                <a:latin typeface="Microsoft YaHei"/>
              </a:rPr>
              <a:t>发现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76856" y="3822191"/>
            <a:ext cx="25603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97AAB4"/>
                </a:solidFill>
                <a:latin typeface="Microsoft YaHe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06040" y="3657600"/>
            <a:ext cx="1298448" cy="603504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79192" y="3840480"/>
            <a:ext cx="1152144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3AA2B"/>
                </a:solidFill>
                <a:latin typeface="Microsoft YaHei"/>
              </a:rPr>
              <a:t>定位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50208" y="3822191"/>
            <a:ext cx="25603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97AAB4"/>
                </a:solidFill>
                <a:latin typeface="Microsoft YaHe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9392" y="3657600"/>
            <a:ext cx="1298448" cy="603504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4DA9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40480"/>
            <a:ext cx="1152144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4DA9D7"/>
                </a:solidFill>
                <a:latin typeface="Microsoft YaHei"/>
              </a:rPr>
              <a:t>关联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59" y="3822191"/>
            <a:ext cx="25603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97AAB4"/>
                </a:solidFill>
                <a:latin typeface="Microsoft YaHei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52744" y="3657600"/>
            <a:ext cx="1298448" cy="603504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25896" y="3840480"/>
            <a:ext cx="1152144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8C7B7"/>
                </a:solidFill>
                <a:latin typeface="Microsoft YaHei"/>
              </a:rPr>
              <a:t>研判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96912" y="3822191"/>
            <a:ext cx="25603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97AAB4"/>
                </a:solidFill>
                <a:latin typeface="Microsoft YaHei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26096" y="3657600"/>
            <a:ext cx="1298448" cy="603504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49C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99248" y="3840480"/>
            <a:ext cx="1152144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49C486"/>
                </a:solidFill>
                <a:latin typeface="Microsoft YaHei"/>
              </a:rPr>
              <a:t>处置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70264" y="3822191"/>
            <a:ext cx="256032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97AAB4"/>
                </a:solidFill>
                <a:latin typeface="Microsoft YaHei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99448" y="3657600"/>
            <a:ext cx="1298448" cy="603504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8B7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72600" y="3840480"/>
            <a:ext cx="1152144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8B79E8"/>
                </a:solidFill>
                <a:latin typeface="Microsoft YaHei"/>
              </a:rPr>
              <a:t>复盘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" y="4663440"/>
            <a:ext cx="996696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F2F6F7"/>
                </a:solidFill>
                <a:latin typeface="Microsoft YaHei"/>
              </a:rPr>
              <a:t>输出：风险人员｜发生区域｜持续时间｜关联作业｜处置状态｜改进建议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10896"/>
            <a:ext cx="73152" cy="438912"/>
          </a:xfrm>
          <a:prstGeom prst="rect">
            <a:avLst/>
          </a:prstGeom>
          <a:solidFill>
            <a:srgbClr val="F3AA2B"/>
          </a:solidFill>
          <a:ln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996696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F2F6F7"/>
                </a:solidFill>
                <a:latin typeface="Microsoft YaHei"/>
              </a:rPr>
              <a:t>电、热、气一体化运营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6984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7AAB4"/>
                </a:solidFill>
                <a:latin typeface="Microsoft YaHei"/>
              </a:rPr>
              <a:t>一个智能入口覆盖生产运行、调度、能效和安全风险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274320"/>
            <a:ext cx="658368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F3AA2B"/>
                </a:solidFill>
                <a:latin typeface="Microsoft YaHei"/>
              </a:rPr>
              <a:t>11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60704"/>
            <a:ext cx="11265408" cy="0"/>
          </a:xfrm>
          <a:prstGeom prst="line">
            <a:avLst/>
          </a:prstGeom>
          <a:ln w="12700">
            <a:solidFill>
              <a:srgbClr val="334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37960"/>
            <a:ext cx="50292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F838E"/>
                </a:solidFill>
                <a:latin typeface="Microsoft YaHei"/>
              </a:rPr>
              <a:t>人员安全智能运营中心｜销售培训资料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94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6F838E"/>
                </a:solidFill>
                <a:latin typeface="Microsoft YaHe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17320"/>
            <a:ext cx="3337560" cy="182880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664208"/>
            <a:ext cx="64008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3200" b="1">
                <a:solidFill>
                  <a:srgbClr val="F3AA2B"/>
                </a:solidFill>
                <a:latin typeface="Microsoft YaHei"/>
              </a:rPr>
              <a:t>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8488" y="1691640"/>
            <a:ext cx="2057400" cy="8229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6F7"/>
                </a:solidFill>
                <a:latin typeface="Microsoft YaHei"/>
              </a:rPr>
              <a:t>机组出力｜电网负荷｜变电站｜线路｜停电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7" y="1417320"/>
            <a:ext cx="3337560" cy="182880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E2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5" y="1664208"/>
            <a:ext cx="64008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3200" b="1">
                <a:solidFill>
                  <a:srgbClr val="E26363"/>
                </a:solidFill>
                <a:latin typeface="Microsoft YaHei"/>
              </a:rPr>
              <a:t>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7" y="1691640"/>
            <a:ext cx="2057400" cy="8229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6F7"/>
                </a:solidFill>
                <a:latin typeface="Microsoft YaHei"/>
              </a:rPr>
              <a:t>供回温｜压力｜流量｜热负荷｜热网报警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1417320"/>
            <a:ext cx="3337560" cy="182880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6" y="1664208"/>
            <a:ext cx="64008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3200" b="1">
                <a:solidFill>
                  <a:srgbClr val="28C7B7"/>
                </a:solidFill>
                <a:latin typeface="Microsoft YaHei"/>
              </a:rPr>
              <a:t>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6568" y="1691640"/>
            <a:ext cx="2057400" cy="8229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2F6F7"/>
                </a:solidFill>
                <a:latin typeface="Microsoft YaHei"/>
              </a:rPr>
              <a:t>门站｜调压站｜供气量｜压力｜加臭状态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49039"/>
            <a:ext cx="10835640" cy="1481328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005072"/>
            <a:ext cx="173736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3AA2B"/>
                </a:solidFill>
                <a:latin typeface="Microsoft YaHei"/>
              </a:rPr>
              <a:t>综合管理视角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3968496"/>
            <a:ext cx="8092440" cy="10058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2F6F7"/>
                </a:solidFill>
                <a:latin typeface="Microsoft YaHei"/>
              </a:defRPr>
            </a:pPr>
            <a:r>
              <a:t>•  调度指令执行闭环</a:t>
            </a:r>
          </a:p>
          <a:p>
            <a:pPr>
              <a:spcAft>
                <a:spcPts val="900"/>
              </a:spcAft>
              <a:defRPr sz="1300" b="0">
                <a:solidFill>
                  <a:srgbClr val="F2F6F7"/>
                </a:solidFill>
                <a:latin typeface="Microsoft YaHei"/>
              </a:defRPr>
            </a:pPr>
            <a:r>
              <a:t>•  煤耗、厂用电率、线损、热损和气损</a:t>
            </a:r>
          </a:p>
          <a:p>
            <a:pPr>
              <a:spcAft>
                <a:spcPts val="900"/>
              </a:spcAft>
              <a:defRPr sz="1300" b="0">
                <a:solidFill>
                  <a:srgbClr val="F2F6F7"/>
                </a:solidFill>
                <a:latin typeface="Microsoft YaHei"/>
              </a:defRPr>
            </a:pPr>
            <a:r>
              <a:t>•  设备重载、导线温升、热网异常和能源安全风险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742432"/>
            <a:ext cx="1078992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28C7B7"/>
                </a:solidFill>
                <a:latin typeface="Microsoft YaHei"/>
              </a:rPr>
              <a:t>适合综合能源集团跨专业运营交流与管理驾驶舱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10896"/>
            <a:ext cx="73152" cy="438912"/>
          </a:xfrm>
          <a:prstGeom prst="rect">
            <a:avLst/>
          </a:prstGeom>
          <a:solidFill>
            <a:srgbClr val="F3AA2B"/>
          </a:solidFill>
          <a:ln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996696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F2F6F7"/>
                </a:solidFill>
                <a:latin typeface="Microsoft YaHei"/>
              </a:rPr>
              <a:t>预测性维护：让设备风险早于故障被发现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6984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7AAB4"/>
                </a:solidFill>
                <a:latin typeface="Microsoft YaHei"/>
              </a:rPr>
              <a:t>从状态采集、健康评价、风险预测到维护建议形成闭环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274320"/>
            <a:ext cx="658368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F3AA2B"/>
                </a:solidFill>
                <a:latin typeface="Microsoft YaHei"/>
              </a:rPr>
              <a:t>12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60704"/>
            <a:ext cx="11265408" cy="0"/>
          </a:xfrm>
          <a:prstGeom prst="line">
            <a:avLst/>
          </a:prstGeom>
          <a:ln w="12700">
            <a:solidFill>
              <a:srgbClr val="334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37960"/>
            <a:ext cx="50292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F838E"/>
                </a:solidFill>
                <a:latin typeface="Microsoft YaHei"/>
              </a:rPr>
              <a:t>人员安全智能运营中心｜销售培训资料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94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6F838E"/>
                </a:solidFill>
                <a:latin typeface="Microsoft YaHe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1417320"/>
            <a:ext cx="1965960" cy="132588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4DA9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627632"/>
            <a:ext cx="16916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4DA9D7"/>
                </a:solidFill>
                <a:latin typeface="Microsoft YaHei"/>
              </a:rPr>
              <a:t>感知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029968"/>
            <a:ext cx="169164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97AAB4"/>
                </a:solidFill>
                <a:latin typeface="Microsoft YaHei"/>
              </a:rPr>
              <a:t>振动/温度/电流
局放/油色谱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5456" y="1883664"/>
            <a:ext cx="2743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97AAB4"/>
                </a:solidFill>
                <a:latin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16352" y="1417320"/>
            <a:ext cx="1965960" cy="132588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53512" y="1627632"/>
            <a:ext cx="16916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28C7B7"/>
                </a:solidFill>
                <a:latin typeface="Microsoft YaHei"/>
              </a:rPr>
              <a:t>评价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2" y="2029968"/>
            <a:ext cx="169164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97AAB4"/>
                </a:solidFill>
                <a:latin typeface="Microsoft YaHei"/>
              </a:rPr>
              <a:t>健康度
异常分数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9744" y="1883664"/>
            <a:ext cx="2743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97AAB4"/>
                </a:solidFill>
                <a:latin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1417320"/>
            <a:ext cx="1965960" cy="132588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0" y="1627632"/>
            <a:ext cx="16916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3AA2B"/>
                </a:solidFill>
                <a:latin typeface="Microsoft YaHei"/>
              </a:rPr>
              <a:t>预测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029968"/>
            <a:ext cx="169164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97AAB4"/>
                </a:solidFill>
                <a:latin typeface="Microsoft YaHei"/>
              </a:rPr>
              <a:t>故障模式
发生概率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1883664"/>
            <a:ext cx="2743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97AAB4"/>
                </a:solidFill>
                <a:latin typeface="Microsoft YaHe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24928" y="1417320"/>
            <a:ext cx="1965960" cy="132588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E2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2088" y="1627632"/>
            <a:ext cx="16916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E26363"/>
                </a:solidFill>
                <a:latin typeface="Microsoft YaHei"/>
              </a:rPr>
              <a:t>决策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2029968"/>
            <a:ext cx="169164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97AAB4"/>
                </a:solidFill>
                <a:latin typeface="Microsoft YaHei"/>
              </a:rPr>
              <a:t>剩余寿命
建议窗口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1883664"/>
            <a:ext cx="2743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97AAB4"/>
                </a:solidFill>
                <a:latin typeface="Microsoft YaHe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29216" y="1417320"/>
            <a:ext cx="1965960" cy="132588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49C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66376" y="1627632"/>
            <a:ext cx="16916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49C486"/>
                </a:solidFill>
                <a:latin typeface="Microsoft YaHei"/>
              </a:rPr>
              <a:t>执行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66376" y="2029968"/>
            <a:ext cx="169164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97AAB4"/>
                </a:solidFill>
                <a:latin typeface="Microsoft YaHei"/>
              </a:rPr>
              <a:t>工单/备件
停机计划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246120"/>
            <a:ext cx="18288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3AA2B"/>
                </a:solidFill>
                <a:latin typeface="Microsoft YaHei"/>
              </a:rPr>
              <a:t>标准监测终端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3730752"/>
            <a:ext cx="2240280" cy="310896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" y="3767328"/>
            <a:ext cx="216712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28C7B7"/>
                </a:solidFill>
                <a:latin typeface="Microsoft YaHei"/>
              </a:rPr>
              <a:t>无线振动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64992" y="3730752"/>
            <a:ext cx="2240280" cy="310896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01568" y="3767328"/>
            <a:ext cx="216712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28C7B7"/>
                </a:solidFill>
                <a:latin typeface="Microsoft YaHei"/>
              </a:rPr>
              <a:t>无线测温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44184" y="3730752"/>
            <a:ext cx="2240280" cy="310896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3767328"/>
            <a:ext cx="216712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28C7B7"/>
                </a:solidFill>
                <a:latin typeface="Microsoft YaHei"/>
              </a:rPr>
              <a:t>电机电流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23376" y="3730752"/>
            <a:ext cx="2240280" cy="310896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59952" y="3767328"/>
            <a:ext cx="216712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28C7B7"/>
                </a:solidFill>
                <a:latin typeface="Microsoft YaHei"/>
              </a:rPr>
              <a:t>局放在线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4416552"/>
            <a:ext cx="2240280" cy="310896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4DA9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2376" y="4453128"/>
            <a:ext cx="216712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4DA9D7"/>
                </a:solidFill>
                <a:latin typeface="Microsoft YaHei"/>
              </a:rPr>
              <a:t>油色谱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64992" y="4416552"/>
            <a:ext cx="2240280" cy="310896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4DA9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01568" y="4453128"/>
            <a:ext cx="216712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4DA9D7"/>
                </a:solidFill>
                <a:latin typeface="Microsoft YaHei"/>
              </a:rPr>
              <a:t>压力流量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44184" y="4416552"/>
            <a:ext cx="2240280" cy="310896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4DA9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4453128"/>
            <a:ext cx="216712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4DA9D7"/>
                </a:solidFill>
                <a:latin typeface="Microsoft YaHei"/>
              </a:rPr>
              <a:t>红外测温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23376" y="4416552"/>
            <a:ext cx="2240280" cy="310896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4DA9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59952" y="4453128"/>
            <a:ext cx="216712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4DA9D7"/>
                </a:solidFill>
                <a:latin typeface="Microsoft YaHei"/>
              </a:rPr>
              <a:t>边缘网关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" y="5340096"/>
            <a:ext cx="10744200" cy="594360"/>
          </a:xfrm>
          <a:prstGeom prst="roundRect">
            <a:avLst/>
          </a:prstGeom>
          <a:solidFill>
            <a:srgbClr val="2A2114"/>
          </a:solidFill>
          <a:ln w="12700"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5532120"/>
            <a:ext cx="102870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3AA2B"/>
                </a:solidFill>
                <a:latin typeface="Microsoft YaHei"/>
              </a:rPr>
              <a:t>销售边界：预测结果用于辅助决策，正式应用需结合设备机理、历史故障与专业人员复核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10896"/>
            <a:ext cx="73152" cy="438912"/>
          </a:xfrm>
          <a:prstGeom prst="rect">
            <a:avLst/>
          </a:prstGeom>
          <a:solidFill>
            <a:srgbClr val="F3AA2B"/>
          </a:solidFill>
          <a:ln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996696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F2F6F7"/>
                </a:solidFill>
                <a:latin typeface="Microsoft YaHei"/>
              </a:rPr>
              <a:t>AI 引擎：不是把 60 个接口全部塞给模型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6984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7AAB4"/>
                </a:solidFill>
                <a:latin typeface="Microsoft YaHei"/>
              </a:rPr>
              <a:t>动态工具路由让本地模型既能覆盖全部业务，又保持速度和稳定性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274320"/>
            <a:ext cx="658368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F3AA2B"/>
                </a:solidFill>
                <a:latin typeface="Microsoft YaHei"/>
              </a:rPr>
              <a:t>13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60704"/>
            <a:ext cx="11265408" cy="0"/>
          </a:xfrm>
          <a:prstGeom prst="line">
            <a:avLst/>
          </a:prstGeom>
          <a:ln w="12700">
            <a:solidFill>
              <a:srgbClr val="334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37960"/>
            <a:ext cx="50292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F838E"/>
                </a:solidFill>
                <a:latin typeface="Microsoft YaHei"/>
              </a:rPr>
              <a:t>人员安全智能运营中心｜销售培训资料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94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6F838E"/>
                </a:solidFill>
                <a:latin typeface="Microsoft YaHei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71600"/>
            <a:ext cx="2011680" cy="91440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82496"/>
            <a:ext cx="1700784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3AA2B"/>
                </a:solidFill>
                <a:latin typeface="Microsoft YaHei"/>
              </a:rPr>
              <a:t>自然语言问题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16352" y="1627632"/>
            <a:ext cx="4114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97AAB4"/>
                </a:solidFill>
                <a:latin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0128" y="1371600"/>
            <a:ext cx="2057400" cy="91440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1682496"/>
            <a:ext cx="169164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8C7B7"/>
                </a:solidFill>
                <a:latin typeface="Microsoft YaHei"/>
              </a:rPr>
              <a:t>业务域识别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04688" y="1627632"/>
            <a:ext cx="4114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97AAB4"/>
                </a:solidFill>
                <a:latin typeface="Microsoft Ya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71600"/>
            <a:ext cx="2057400" cy="91440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4DA9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3912" y="1682496"/>
            <a:ext cx="1719072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4DA9D7"/>
                </a:solidFill>
                <a:latin typeface="Microsoft YaHei"/>
              </a:rPr>
              <a:t>加载相关接口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1627632"/>
            <a:ext cx="4114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97AAB4"/>
                </a:solidFill>
                <a:latin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1371600"/>
            <a:ext cx="2514600" cy="91440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49C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682496"/>
            <a:ext cx="214884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49C486"/>
                </a:solidFill>
                <a:latin typeface="Microsoft YaHei"/>
              </a:rPr>
              <a:t>数据查询与结论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880360"/>
            <a:ext cx="10652760" cy="530352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0266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F2F6F7"/>
                </a:solidFill>
                <a:latin typeface="Microsoft YaHei"/>
              </a:rPr>
              <a:t>人员在哪里？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3026664"/>
            <a:ext cx="33832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28C7B7"/>
                </a:solidFill>
                <a:latin typeface="Microsoft YaHei"/>
              </a:rPr>
              <a:t>定位轨迹 + 三维地图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2990088"/>
            <a:ext cx="1508760" cy="310896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89136" y="3026664"/>
            <a:ext cx="1435607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F3AA2B"/>
                </a:solidFill>
                <a:latin typeface="Microsoft YaHei"/>
              </a:rPr>
              <a:t>8 个接口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593591"/>
            <a:ext cx="10652760" cy="530352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373989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F2F6F7"/>
                </a:solidFill>
                <a:latin typeface="Microsoft YaHei"/>
              </a:rPr>
              <a:t>作业票是否合规？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3739896"/>
            <a:ext cx="33832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28C7B7"/>
                </a:solidFill>
                <a:latin typeface="Microsoft YaHei"/>
              </a:rPr>
              <a:t>作业票 + 人员活动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3703320"/>
            <a:ext cx="1508760" cy="310896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89136" y="3739896"/>
            <a:ext cx="1435607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F3AA2B"/>
                </a:solidFill>
                <a:latin typeface="Microsoft YaHei"/>
              </a:rPr>
              <a:t>按需组合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306824"/>
            <a:ext cx="10652760" cy="530352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445312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F2F6F7"/>
                </a:solidFill>
                <a:latin typeface="Microsoft YaHei"/>
              </a:rPr>
              <a:t>主变未来风险？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4453128"/>
            <a:ext cx="33832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28C7B7"/>
                </a:solidFill>
                <a:latin typeface="Microsoft YaHei"/>
              </a:rPr>
              <a:t>输变配电 + 预测维护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560" y="4416552"/>
            <a:ext cx="1508760" cy="310896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89136" y="4453128"/>
            <a:ext cx="1435607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F3AA2B"/>
                </a:solidFill>
                <a:latin typeface="Microsoft YaHei"/>
              </a:rPr>
              <a:t>按需组合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020056"/>
            <a:ext cx="10652760" cy="530352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516636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F2F6F7"/>
                </a:solidFill>
                <a:latin typeface="Microsoft YaHei"/>
              </a:rPr>
              <a:t>终端为什么离线？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0520" y="5166360"/>
            <a:ext cx="338328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28C7B7"/>
                </a:solidFill>
                <a:latin typeface="Microsoft YaHei"/>
              </a:rPr>
              <a:t>预测性维护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5129784"/>
            <a:ext cx="1508760" cy="310896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89136" y="5166360"/>
            <a:ext cx="1435607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F3AA2B"/>
                </a:solidFill>
                <a:latin typeface="Microsoft YaHei"/>
              </a:rPr>
              <a:t>8 个接口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10896"/>
            <a:ext cx="73152" cy="438912"/>
          </a:xfrm>
          <a:prstGeom prst="rect">
            <a:avLst/>
          </a:prstGeom>
          <a:solidFill>
            <a:srgbClr val="F3AA2B"/>
          </a:solidFill>
          <a:ln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996696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F2F6F7"/>
                </a:solidFill>
                <a:latin typeface="Microsoft YaHei"/>
              </a:rPr>
              <a:t>本地优先、多模型协同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6984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7AAB4"/>
                </a:solidFill>
                <a:latin typeface="Microsoft YaHei"/>
              </a:rPr>
              <a:t>根据数据敏感度、任务复杂度和成本选择最合适的模型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274320"/>
            <a:ext cx="658368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F3AA2B"/>
                </a:solidFill>
                <a:latin typeface="Microsoft YaHei"/>
              </a:rPr>
              <a:t>14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60704"/>
            <a:ext cx="11265408" cy="0"/>
          </a:xfrm>
          <a:prstGeom prst="line">
            <a:avLst/>
          </a:prstGeom>
          <a:ln w="12700">
            <a:solidFill>
              <a:srgbClr val="334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37960"/>
            <a:ext cx="50292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F838E"/>
                </a:solidFill>
                <a:latin typeface="Microsoft YaHei"/>
              </a:rPr>
              <a:t>人员安全智能运营中心｜销售培训资料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94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6F838E"/>
                </a:solidFill>
                <a:latin typeface="Microsoft YaHe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3429000" cy="434340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1691640"/>
            <a:ext cx="2953512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8C7B7"/>
                </a:solidFill>
                <a:latin typeface="Microsoft YaHei"/>
              </a:rPr>
              <a:t>本地模型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423160"/>
            <a:ext cx="2788920" cy="24688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>
              <a:spcAft>
                <a:spcPts val="1500"/>
              </a:spcAft>
              <a:defRPr sz="1300" b="0">
                <a:solidFill>
                  <a:srgbClr val="F2F6F7"/>
                </a:solidFill>
                <a:latin typeface="Microsoft YaHei"/>
              </a:defRPr>
            </a:pPr>
            <a:r>
              <a:t>•  敏感数据不出本机</a:t>
            </a:r>
          </a:p>
          <a:p>
            <a:pPr>
              <a:spcAft>
                <a:spcPts val="1500"/>
              </a:spcAft>
              <a:defRPr sz="1300" b="0">
                <a:solidFill>
                  <a:srgbClr val="F2F6F7"/>
                </a:solidFill>
                <a:latin typeface="Microsoft YaHei"/>
              </a:defRPr>
            </a:pPr>
            <a:r>
              <a:t>•  实时查询与工具调用</a:t>
            </a:r>
          </a:p>
          <a:p>
            <a:pPr>
              <a:spcAft>
                <a:spcPts val="1500"/>
              </a:spcAft>
              <a:defRPr sz="1300" b="0">
                <a:solidFill>
                  <a:srgbClr val="F2F6F7"/>
                </a:solidFill>
                <a:latin typeface="Microsoft YaHei"/>
              </a:defRPr>
            </a:pPr>
            <a:r>
              <a:t>•  GPU 加速、按需启动</a:t>
            </a:r>
          </a:p>
          <a:p>
            <a:pPr>
              <a:spcAft>
                <a:spcPts val="1500"/>
              </a:spcAft>
              <a:defRPr sz="1300" b="0">
                <a:solidFill>
                  <a:srgbClr val="F2F6F7"/>
                </a:solidFill>
                <a:latin typeface="Microsoft YaHei"/>
              </a:defRPr>
            </a:pPr>
            <a:r>
              <a:t>•  动态路由覆盖全部接口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371600"/>
            <a:ext cx="3429000" cy="434340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4DA9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1691640"/>
            <a:ext cx="2953512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4DA9D7"/>
                </a:solidFill>
                <a:latin typeface="Microsoft YaHei"/>
              </a:rPr>
              <a:t>云端模型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423160"/>
            <a:ext cx="2788920" cy="24688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>
              <a:spcAft>
                <a:spcPts val="1500"/>
              </a:spcAft>
              <a:defRPr sz="1300" b="0">
                <a:solidFill>
                  <a:srgbClr val="F2F6F7"/>
                </a:solidFill>
                <a:latin typeface="Microsoft YaHei"/>
              </a:defRPr>
            </a:pPr>
            <a:r>
              <a:t>•  复杂推理与长报告</a:t>
            </a:r>
          </a:p>
          <a:p>
            <a:pPr>
              <a:spcAft>
                <a:spcPts val="1500"/>
              </a:spcAft>
              <a:defRPr sz="1300" b="0">
                <a:solidFill>
                  <a:srgbClr val="F2F6F7"/>
                </a:solidFill>
                <a:latin typeface="Microsoft YaHei"/>
              </a:defRPr>
            </a:pPr>
            <a:r>
              <a:t>•  多模型灵活切换</a:t>
            </a:r>
          </a:p>
          <a:p>
            <a:pPr>
              <a:spcAft>
                <a:spcPts val="1500"/>
              </a:spcAft>
              <a:defRPr sz="1300" b="0">
                <a:solidFill>
                  <a:srgbClr val="F2F6F7"/>
                </a:solidFill>
                <a:latin typeface="Microsoft YaHei"/>
              </a:defRPr>
            </a:pPr>
            <a:r>
              <a:t>•  按调用量使用</a:t>
            </a:r>
          </a:p>
          <a:p>
            <a:pPr>
              <a:spcAft>
                <a:spcPts val="1500"/>
              </a:spcAft>
              <a:defRPr sz="1300" b="0">
                <a:solidFill>
                  <a:srgbClr val="F2F6F7"/>
                </a:solidFill>
                <a:latin typeface="Microsoft YaHei"/>
              </a:defRPr>
            </a:pPr>
            <a:r>
              <a:t>•  适合非敏感分析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1371600"/>
            <a:ext cx="3429000" cy="434340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1691640"/>
            <a:ext cx="2953512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F3AA2B"/>
                </a:solidFill>
                <a:latin typeface="Microsoft YaHei"/>
              </a:rPr>
              <a:t>治理与审计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423160"/>
            <a:ext cx="2788920" cy="24688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>
              <a:spcAft>
                <a:spcPts val="1500"/>
              </a:spcAft>
              <a:defRPr sz="1300" b="0">
                <a:solidFill>
                  <a:srgbClr val="F2F6F7"/>
                </a:solidFill>
                <a:latin typeface="Microsoft YaHei"/>
              </a:defRPr>
            </a:pPr>
            <a:r>
              <a:t>•  用户与角色权限</a:t>
            </a:r>
          </a:p>
          <a:p>
            <a:pPr>
              <a:spcAft>
                <a:spcPts val="1500"/>
              </a:spcAft>
              <a:defRPr sz="1300" b="0">
                <a:solidFill>
                  <a:srgbClr val="F2F6F7"/>
                </a:solidFill>
                <a:latin typeface="Microsoft YaHei"/>
              </a:defRPr>
            </a:pPr>
            <a:r>
              <a:t>•  敏感字段最小展示</a:t>
            </a:r>
          </a:p>
          <a:p>
            <a:pPr>
              <a:spcAft>
                <a:spcPts val="1500"/>
              </a:spcAft>
              <a:defRPr sz="1300" b="0">
                <a:solidFill>
                  <a:srgbClr val="F2F6F7"/>
                </a:solidFill>
                <a:latin typeface="Microsoft YaHei"/>
              </a:defRPr>
            </a:pPr>
            <a:r>
              <a:t>•  提示词与工具调用记录</a:t>
            </a:r>
          </a:p>
          <a:p>
            <a:pPr>
              <a:spcAft>
                <a:spcPts val="1500"/>
              </a:spcAft>
              <a:defRPr sz="1300" b="0">
                <a:solidFill>
                  <a:srgbClr val="F2F6F7"/>
                </a:solidFill>
                <a:latin typeface="Microsoft YaHei"/>
              </a:defRPr>
            </a:pPr>
            <a:r>
              <a:t>•  可接入 Langfuse 评测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10896"/>
            <a:ext cx="73152" cy="438912"/>
          </a:xfrm>
          <a:prstGeom prst="rect">
            <a:avLst/>
          </a:prstGeom>
          <a:solidFill>
            <a:srgbClr val="F3AA2B"/>
          </a:solidFill>
          <a:ln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996696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F2F6F7"/>
                </a:solidFill>
                <a:latin typeface="Microsoft YaHei"/>
              </a:rPr>
              <a:t>典型场景：高风险作业全过程闭环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6984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7AAB4"/>
                </a:solidFill>
                <a:latin typeface="Microsoft YaHei"/>
              </a:rPr>
              <a:t>将人员、位置、作业票和报警串成一条可追溯链路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274320"/>
            <a:ext cx="658368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F3AA2B"/>
                </a:solidFill>
                <a:latin typeface="Microsoft YaHei"/>
              </a:rPr>
              <a:t>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60704"/>
            <a:ext cx="11265408" cy="0"/>
          </a:xfrm>
          <a:prstGeom prst="line">
            <a:avLst/>
          </a:prstGeom>
          <a:ln w="12700">
            <a:solidFill>
              <a:srgbClr val="334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37960"/>
            <a:ext cx="50292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F838E"/>
                </a:solidFill>
                <a:latin typeface="Microsoft YaHei"/>
              </a:rPr>
              <a:t>人员安全智能运营中心｜销售培训资料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94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6F838E"/>
                </a:solidFill>
                <a:latin typeface="Microsoft YaHei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17320"/>
            <a:ext cx="3154680" cy="201168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19072"/>
            <a:ext cx="269748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28C7B7"/>
                </a:solidFill>
                <a:latin typeface="Microsoft YaHei"/>
              </a:rPr>
              <a:t>作业前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31720"/>
            <a:ext cx="2697480" cy="7772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F2F6F7"/>
                </a:solidFill>
                <a:latin typeface="Microsoft YaHei"/>
              </a:rPr>
              <a:t>人员资质
培训准入
票面合规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2240280"/>
            <a:ext cx="438912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500" b="0">
                <a:solidFill>
                  <a:srgbClr val="97AAB4"/>
                </a:solidFill>
                <a:latin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417320"/>
            <a:ext cx="3154680" cy="201168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719072"/>
            <a:ext cx="269748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F3AA2B"/>
                </a:solidFill>
                <a:latin typeface="Microsoft YaHei"/>
              </a:rPr>
              <a:t>作业中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331720"/>
            <a:ext cx="2697480" cy="7772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F2F6F7"/>
                </a:solidFill>
                <a:latin typeface="Microsoft YaHei"/>
              </a:rPr>
              <a:t>人员到场
区域范围
停留与报警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240280"/>
            <a:ext cx="438912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500" b="0">
                <a:solidFill>
                  <a:srgbClr val="97AAB4"/>
                </a:solidFill>
                <a:latin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1417320"/>
            <a:ext cx="3154680" cy="201168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49C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1719072"/>
            <a:ext cx="269748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49C486"/>
                </a:solidFill>
                <a:latin typeface="Microsoft YaHei"/>
              </a:rPr>
              <a:t>作业后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331720"/>
            <a:ext cx="2697480" cy="7772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F2F6F7"/>
                </a:solidFill>
                <a:latin typeface="Microsoft YaHei"/>
              </a:rPr>
              <a:t>工时核算
轨迹复盘
违规闭环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977639"/>
            <a:ext cx="10652760" cy="1325880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279392"/>
            <a:ext cx="10972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3AA2B"/>
                </a:solidFill>
                <a:latin typeface="Microsoft YaHei"/>
              </a:rPr>
              <a:t>示例提问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4242816"/>
            <a:ext cx="845820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2F6F7"/>
                </a:solidFill>
                <a:latin typeface="Microsoft YaHei"/>
              </a:rPr>
              <a:t>“今天受限空间作业区有哪些人员？对应作业票是否合规？是否发生越界或异常驻留？”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892040"/>
            <a:ext cx="978408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97AAB4"/>
                </a:solidFill>
                <a:latin typeface="Microsoft YaHei"/>
              </a:rPr>
              <a:t>价值：把多系统取证时间压缩为一次查询，帮助安全管理人员快速聚焦异常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10896"/>
            <a:ext cx="73152" cy="438912"/>
          </a:xfrm>
          <a:prstGeom prst="rect">
            <a:avLst/>
          </a:prstGeom>
          <a:solidFill>
            <a:srgbClr val="F3AA2B"/>
          </a:solidFill>
          <a:ln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996696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F2F6F7"/>
                </a:solidFill>
                <a:latin typeface="Microsoft YaHei"/>
              </a:rPr>
              <a:t>典型场景：设备风险提前识别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6984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7AAB4"/>
                </a:solidFill>
                <a:latin typeface="Microsoft YaHei"/>
              </a:rPr>
              <a:t>把实时监测数据转化为可执行的运维优先级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274320"/>
            <a:ext cx="658368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F3AA2B"/>
                </a:solidFill>
                <a:latin typeface="Microsoft YaHei"/>
              </a:rPr>
              <a:t>16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60704"/>
            <a:ext cx="11265408" cy="0"/>
          </a:xfrm>
          <a:prstGeom prst="line">
            <a:avLst/>
          </a:prstGeom>
          <a:ln w="12700">
            <a:solidFill>
              <a:srgbClr val="334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37960"/>
            <a:ext cx="50292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F838E"/>
                </a:solidFill>
                <a:latin typeface="Microsoft YaHei"/>
              </a:rPr>
              <a:t>人员安全智能运营中心｜销售培训资料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94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6F838E"/>
                </a:solidFill>
                <a:latin typeface="Microsoft YaHei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71600"/>
            <a:ext cx="6675120" cy="448056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64208"/>
            <a:ext cx="20116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8C7B7"/>
                </a:solidFill>
                <a:latin typeface="Microsoft YaHei"/>
              </a:rPr>
              <a:t>设备健康趋势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05840" y="2331720"/>
            <a:ext cx="5897880" cy="0"/>
          </a:xfrm>
          <a:prstGeom prst="line">
            <a:avLst/>
          </a:prstGeom>
          <a:ln w="8890">
            <a:solidFill>
              <a:srgbClr val="294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05840" y="2843784"/>
            <a:ext cx="5897880" cy="0"/>
          </a:xfrm>
          <a:prstGeom prst="line">
            <a:avLst/>
          </a:prstGeom>
          <a:ln w="8890">
            <a:solidFill>
              <a:srgbClr val="294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5840" y="3355848"/>
            <a:ext cx="5897880" cy="0"/>
          </a:xfrm>
          <a:prstGeom prst="line">
            <a:avLst/>
          </a:prstGeom>
          <a:ln w="8890">
            <a:solidFill>
              <a:srgbClr val="294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5840" y="3867912"/>
            <a:ext cx="5897880" cy="0"/>
          </a:xfrm>
          <a:prstGeom prst="line">
            <a:avLst/>
          </a:prstGeom>
          <a:ln w="8890">
            <a:solidFill>
              <a:srgbClr val="294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05840" y="4379976"/>
            <a:ext cx="5897880" cy="0"/>
          </a:xfrm>
          <a:prstGeom prst="line">
            <a:avLst/>
          </a:prstGeom>
          <a:ln w="8890">
            <a:solidFill>
              <a:srgbClr val="294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097280" y="4279392"/>
            <a:ext cx="731520" cy="155448"/>
          </a:xfrm>
          <a:prstGeom prst="line">
            <a:avLst/>
          </a:prstGeom>
          <a:ln w="30480">
            <a:solidFill>
              <a:srgbClr val="F3A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828800" y="4279392"/>
            <a:ext cx="731520" cy="18288"/>
          </a:xfrm>
          <a:prstGeom prst="line">
            <a:avLst/>
          </a:prstGeom>
          <a:ln w="30480">
            <a:solidFill>
              <a:srgbClr val="F3A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560320" y="3977639"/>
            <a:ext cx="731520" cy="320041"/>
          </a:xfrm>
          <a:prstGeom prst="line">
            <a:avLst/>
          </a:prstGeom>
          <a:ln w="30480">
            <a:solidFill>
              <a:srgbClr val="F3A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291840" y="3822191"/>
            <a:ext cx="731520" cy="155448"/>
          </a:xfrm>
          <a:prstGeom prst="line">
            <a:avLst/>
          </a:prstGeom>
          <a:ln w="30480">
            <a:solidFill>
              <a:srgbClr val="F3A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023360" y="3364992"/>
            <a:ext cx="731520" cy="457199"/>
          </a:xfrm>
          <a:prstGeom prst="line">
            <a:avLst/>
          </a:prstGeom>
          <a:ln w="30480">
            <a:solidFill>
              <a:srgbClr val="F3A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754880" y="3200400"/>
            <a:ext cx="731520" cy="164592"/>
          </a:xfrm>
          <a:prstGeom prst="line">
            <a:avLst/>
          </a:prstGeom>
          <a:ln w="30480">
            <a:solidFill>
              <a:srgbClr val="F3A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486400" y="2633472"/>
            <a:ext cx="731520" cy="566928"/>
          </a:xfrm>
          <a:prstGeom prst="line">
            <a:avLst/>
          </a:prstGeom>
          <a:ln w="30480">
            <a:solidFill>
              <a:srgbClr val="F3A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217920" y="2423160"/>
            <a:ext cx="594360" cy="210312"/>
          </a:xfrm>
          <a:prstGeom prst="line">
            <a:avLst/>
          </a:prstGeom>
          <a:ln w="30480">
            <a:solidFill>
              <a:srgbClr val="F3A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870448" y="2057400"/>
            <a:ext cx="8229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E26363"/>
                </a:solidFill>
                <a:latin typeface="Microsoft YaHei"/>
              </a:rPr>
              <a:t>预警阈值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5840" y="2267712"/>
            <a:ext cx="5897880" cy="0"/>
          </a:xfrm>
          <a:prstGeom prst="line">
            <a:avLst/>
          </a:prstGeom>
          <a:ln>
            <a:solidFill>
              <a:srgbClr val="E2636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05840" y="4956048"/>
            <a:ext cx="20116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3AA2B"/>
                </a:solidFill>
                <a:latin typeface="Microsoft YaHei"/>
              </a:rPr>
              <a:t>振动值持续上升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956048"/>
            <a:ext cx="22860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2F6F7"/>
                </a:solidFill>
                <a:latin typeface="Microsoft YaHei"/>
              </a:rPr>
              <a:t>预测故障模式：轴承磨损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68" y="4956048"/>
            <a:ext cx="17373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8C7B7"/>
                </a:solidFill>
                <a:latin typeface="Microsoft YaHei"/>
              </a:rPr>
              <a:t>建议：7天内专项检查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1508760"/>
            <a:ext cx="228600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3AA2B"/>
                </a:solidFill>
                <a:latin typeface="Microsoft YaHei"/>
              </a:rPr>
              <a:t>从数据到行动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2148840"/>
            <a:ext cx="3291840" cy="25603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>
              <a:spcAft>
                <a:spcPts val="1600"/>
              </a:spcAft>
              <a:defRPr sz="1500" b="0">
                <a:solidFill>
                  <a:srgbClr val="F2F6F7"/>
                </a:solidFill>
                <a:latin typeface="Microsoft YaHei"/>
              </a:defRPr>
            </a:pPr>
            <a:r>
              <a:t>•  识别异常趋势</a:t>
            </a:r>
          </a:p>
          <a:p>
            <a:pPr>
              <a:spcAft>
                <a:spcPts val="1600"/>
              </a:spcAft>
              <a:defRPr sz="1500" b="0">
                <a:solidFill>
                  <a:srgbClr val="F2F6F7"/>
                </a:solidFill>
                <a:latin typeface="Microsoft YaHei"/>
              </a:defRPr>
            </a:pPr>
            <a:r>
              <a:t>•  评估故障概率</a:t>
            </a:r>
          </a:p>
          <a:p>
            <a:pPr>
              <a:spcAft>
                <a:spcPts val="1600"/>
              </a:spcAft>
              <a:defRPr sz="1500" b="0">
                <a:solidFill>
                  <a:srgbClr val="F2F6F7"/>
                </a:solidFill>
                <a:latin typeface="Microsoft YaHei"/>
              </a:defRPr>
            </a:pPr>
            <a:r>
              <a:t>•  计算剩余寿命</a:t>
            </a:r>
          </a:p>
          <a:p>
            <a:pPr>
              <a:spcAft>
                <a:spcPts val="1600"/>
              </a:spcAft>
              <a:defRPr sz="1500" b="0">
                <a:solidFill>
                  <a:srgbClr val="F2F6F7"/>
                </a:solidFill>
                <a:latin typeface="Microsoft YaHei"/>
              </a:defRPr>
            </a:pPr>
            <a:r>
              <a:t>•  推荐检修窗口</a:t>
            </a:r>
          </a:p>
          <a:p>
            <a:pPr>
              <a:spcAft>
                <a:spcPts val="1600"/>
              </a:spcAft>
              <a:defRPr sz="1500" b="0">
                <a:solidFill>
                  <a:srgbClr val="F2F6F7"/>
                </a:solidFill>
                <a:latin typeface="Microsoft YaHei"/>
              </a:defRPr>
            </a:pPr>
            <a:r>
              <a:t>•  核查备件和工单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5074920"/>
            <a:ext cx="2788920" cy="310896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E2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08975" y="5111496"/>
            <a:ext cx="271576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E26363"/>
                </a:solidFill>
                <a:latin typeface="Microsoft YaHei"/>
              </a:rPr>
              <a:t>辅助决策，不替代专业诊断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10896"/>
            <a:ext cx="73152" cy="438912"/>
          </a:xfrm>
          <a:prstGeom prst="rect">
            <a:avLst/>
          </a:prstGeom>
          <a:solidFill>
            <a:srgbClr val="F3AA2B"/>
          </a:solidFill>
          <a:ln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996696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F2F6F7"/>
                </a:solidFill>
                <a:latin typeface="Microsoft YaHei"/>
              </a:rPr>
              <a:t>客户价值：从信息查询到运营闭环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6984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7AAB4"/>
                </a:solidFill>
                <a:latin typeface="Microsoft YaHei"/>
              </a:rPr>
              <a:t>指标需在项目调研后共同确定，以下为价值评估方向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274320"/>
            <a:ext cx="658368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F3AA2B"/>
                </a:solidFill>
                <a:latin typeface="Microsoft YaHei"/>
              </a:rPr>
              <a:t>17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60704"/>
            <a:ext cx="11265408" cy="0"/>
          </a:xfrm>
          <a:prstGeom prst="line">
            <a:avLst/>
          </a:prstGeom>
          <a:ln w="12700">
            <a:solidFill>
              <a:srgbClr val="334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37960"/>
            <a:ext cx="50292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F838E"/>
                </a:solidFill>
                <a:latin typeface="Microsoft YaHei"/>
              </a:rPr>
              <a:t>人员安全智能运营中心｜销售培训资料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94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6F838E"/>
                </a:solidFill>
                <a:latin typeface="Microsoft YaHei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2514600" cy="306324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737360"/>
            <a:ext cx="2176272" cy="5486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F3AA2B"/>
                </a:solidFill>
                <a:latin typeface="Microsoft YaHei"/>
              </a:rPr>
              <a:t>更快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06040"/>
            <a:ext cx="205740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2F6F7"/>
                </a:solidFill>
                <a:latin typeface="Microsoft YaHei"/>
              </a:rPr>
              <a:t>跨系统查询与临时报表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205740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50" b="0">
                <a:solidFill>
                  <a:srgbClr val="97AAB4"/>
                </a:solidFill>
                <a:latin typeface="Microsoft YaHei"/>
              </a:rPr>
              <a:t>缩短信息获取时间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417320"/>
            <a:ext cx="2514600" cy="306324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1737360"/>
            <a:ext cx="2176272" cy="5486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28C7B7"/>
                </a:solidFill>
                <a:latin typeface="Microsoft YaHei"/>
              </a:rPr>
              <a:t>更准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606040"/>
            <a:ext cx="205740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2F6F7"/>
                </a:solidFill>
                <a:latin typeface="Microsoft YaHei"/>
              </a:rPr>
              <a:t>统一数据口径与关联分析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429000"/>
            <a:ext cx="205740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50" b="0">
                <a:solidFill>
                  <a:srgbClr val="97AAB4"/>
                </a:solidFill>
                <a:latin typeface="Microsoft YaHei"/>
              </a:rPr>
              <a:t>减少人工判断遗漏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417320"/>
            <a:ext cx="2514600" cy="306324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4DA9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1737360"/>
            <a:ext cx="2176272" cy="5486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4DA9D7"/>
                </a:solidFill>
                <a:latin typeface="Microsoft YaHei"/>
              </a:rPr>
              <a:t>更早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06040"/>
            <a:ext cx="205740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2F6F7"/>
                </a:solidFill>
                <a:latin typeface="Microsoft YaHei"/>
              </a:rPr>
              <a:t>异常趋势与风险预测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29000"/>
            <a:ext cx="205740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50" b="0">
                <a:solidFill>
                  <a:srgbClr val="97AAB4"/>
                </a:solidFill>
                <a:latin typeface="Microsoft YaHei"/>
              </a:rPr>
              <a:t>提前安排处置窗口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1417320"/>
            <a:ext cx="2514600" cy="306324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49C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2872" y="1737360"/>
            <a:ext cx="2176272" cy="5486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49C486"/>
                </a:solidFill>
                <a:latin typeface="Microsoft YaHei"/>
              </a:rPr>
              <a:t>更稳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606040"/>
            <a:ext cx="205740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2F6F7"/>
                </a:solidFill>
                <a:latin typeface="Microsoft YaHei"/>
              </a:rPr>
              <a:t>本地部署与动态工具路由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429000"/>
            <a:ext cx="205740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50" b="0">
                <a:solidFill>
                  <a:srgbClr val="97AAB4"/>
                </a:solidFill>
                <a:latin typeface="Microsoft YaHei"/>
              </a:rPr>
              <a:t>保障敏感场景可用性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919472"/>
            <a:ext cx="10744200" cy="822960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5202936"/>
            <a:ext cx="102412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3AA2B"/>
                </a:solidFill>
                <a:latin typeface="Microsoft YaHei"/>
              </a:rPr>
              <a:t>建议项目 KPI：查询响应时间｜报警闭环时长｜作业票合规率｜设备异常提前量｜非计划停机时长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10896"/>
            <a:ext cx="73152" cy="438912"/>
          </a:xfrm>
          <a:prstGeom prst="rect">
            <a:avLst/>
          </a:prstGeom>
          <a:solidFill>
            <a:srgbClr val="F3AA2B"/>
          </a:solidFill>
          <a:ln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996696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F2F6F7"/>
                </a:solidFill>
                <a:latin typeface="Microsoft YaHei"/>
              </a:rPr>
              <a:t>销售需求访谈：必须问清的 12 个问题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6984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7AAB4"/>
                </a:solidFill>
                <a:latin typeface="Microsoft YaHei"/>
              </a:rPr>
              <a:t>通过问题判断客户成熟度、项目边界和切入场景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274320"/>
            <a:ext cx="658368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F3AA2B"/>
                </a:solidFill>
                <a:latin typeface="Microsoft YaHei"/>
              </a:rPr>
              <a:t>18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60704"/>
            <a:ext cx="11265408" cy="0"/>
          </a:xfrm>
          <a:prstGeom prst="line">
            <a:avLst/>
          </a:prstGeom>
          <a:ln w="12700">
            <a:solidFill>
              <a:srgbClr val="334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37960"/>
            <a:ext cx="50292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F838E"/>
                </a:solidFill>
                <a:latin typeface="Microsoft YaHei"/>
              </a:rPr>
              <a:t>人员安全智能运营中心｜销售培训资料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94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6F838E"/>
                </a:solidFill>
                <a:latin typeface="Microsoft YaHei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298448"/>
            <a:ext cx="5303520" cy="566928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63039"/>
            <a:ext cx="3657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3AA2B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444751"/>
            <a:ext cx="44805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F2F6F7"/>
                </a:solidFill>
                <a:latin typeface="Microsoft YaHei"/>
              </a:rPr>
              <a:t>目前有哪些人员定位、门禁和作业票系统？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0216" y="1298448"/>
            <a:ext cx="5303520" cy="566928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463039"/>
            <a:ext cx="3657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3AA2B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1444751"/>
            <a:ext cx="44805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F2F6F7"/>
                </a:solidFill>
                <a:latin typeface="Microsoft YaHei"/>
              </a:rPr>
              <a:t>发生报警后，确认人员位置通常需要多久？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084831"/>
            <a:ext cx="5303520" cy="566928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2249424"/>
            <a:ext cx="3657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3AA2B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231136"/>
            <a:ext cx="44805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F2F6F7"/>
                </a:solidFill>
                <a:latin typeface="Microsoft YaHei"/>
              </a:rPr>
              <a:t>承包商准入、作业和工时由哪些部门管理？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0216" y="2084831"/>
            <a:ext cx="5303520" cy="566928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1" y="2249424"/>
            <a:ext cx="3657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3AA2B"/>
                </a:solidFill>
                <a:latin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2231136"/>
            <a:ext cx="44805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F2F6F7"/>
                </a:solidFill>
                <a:latin typeface="Microsoft YaHei"/>
              </a:rPr>
              <a:t>作业票合规主要依赖人工还是系统规则？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2871215"/>
            <a:ext cx="5303520" cy="566928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035808"/>
            <a:ext cx="3657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3AA2B"/>
                </a:solidFill>
                <a:latin typeface="Microsoft YaHe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017520"/>
            <a:ext cx="44805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F2F6F7"/>
                </a:solidFill>
                <a:latin typeface="Microsoft YaHei"/>
              </a:rPr>
              <a:t>哪些高风险区域最需要实时人员态势？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0216" y="2871215"/>
            <a:ext cx="5303520" cy="566928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1" y="3035808"/>
            <a:ext cx="3657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3AA2B"/>
                </a:solidFill>
                <a:latin typeface="Microsoft YaHe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3017520"/>
            <a:ext cx="44805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F2F6F7"/>
                </a:solidFill>
                <a:latin typeface="Microsoft YaHei"/>
              </a:rPr>
              <a:t>现有定位技术和实际覆盖范围是什么？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3657600"/>
            <a:ext cx="5303520" cy="566928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3822191"/>
            <a:ext cx="3657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3AA2B"/>
                </a:solidFill>
                <a:latin typeface="Microsoft YaHei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3803904"/>
            <a:ext cx="44805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F2F6F7"/>
                </a:solidFill>
                <a:latin typeface="Microsoft YaHei"/>
              </a:rPr>
              <a:t>重点设备已经采集哪些状态量？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0216" y="3657600"/>
            <a:ext cx="5303520" cy="566928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1" y="3822191"/>
            <a:ext cx="3657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3AA2B"/>
                </a:solidFill>
                <a:latin typeface="Microsoft YaHei"/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3803904"/>
            <a:ext cx="44805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F2F6F7"/>
                </a:solidFill>
                <a:latin typeface="Microsoft YaHei"/>
              </a:rPr>
              <a:t>是否具备历史故障、缺陷和检修工单数据？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443983"/>
            <a:ext cx="5303520" cy="566928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" y="4608575"/>
            <a:ext cx="3657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3AA2B"/>
                </a:solidFill>
                <a:latin typeface="Microsoft YaHei"/>
              </a:rPr>
              <a:t>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4590288"/>
            <a:ext cx="44805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F2F6F7"/>
                </a:solidFill>
                <a:latin typeface="Microsoft YaHei"/>
              </a:rPr>
              <a:t>最关注哪些非计划停机或设备故障？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0216" y="4443983"/>
            <a:ext cx="5303520" cy="566928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1" y="4608575"/>
            <a:ext cx="3657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3AA2B"/>
                </a:solidFill>
                <a:latin typeface="Microsoft YaHei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76288" y="4590288"/>
            <a:ext cx="44805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F2F6F7"/>
                </a:solidFill>
                <a:latin typeface="Microsoft YaHei"/>
              </a:rPr>
              <a:t>数据是否允许上云？内网模型有哪些要求？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230368"/>
            <a:ext cx="5303520" cy="566928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" y="5394959"/>
            <a:ext cx="3657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3AA2B"/>
                </a:solidFill>
                <a:latin typeface="Microsoft YaHei"/>
              </a:rPr>
              <a:t>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4440" y="5376672"/>
            <a:ext cx="44805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F2F6F7"/>
                </a:solidFill>
                <a:latin typeface="Microsoft YaHei"/>
              </a:rPr>
              <a:t>现有系统能否提供 API、数据库或消息接口？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0216" y="5230368"/>
            <a:ext cx="5303520" cy="566928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8231" y="5394959"/>
            <a:ext cx="3657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3AA2B"/>
                </a:solidFill>
                <a:latin typeface="Microsoft YaHei"/>
              </a:rPr>
              <a:t>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76288" y="5376672"/>
            <a:ext cx="44805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F2F6F7"/>
                </a:solidFill>
                <a:latin typeface="Microsoft YaHei"/>
              </a:rPr>
              <a:t>谁负责验收？希望改善哪些量化指标？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10896"/>
            <a:ext cx="73152" cy="438912"/>
          </a:xfrm>
          <a:prstGeom prst="rect">
            <a:avLst/>
          </a:prstGeom>
          <a:solidFill>
            <a:srgbClr val="F3AA2B"/>
          </a:solidFill>
          <a:ln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996696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F2F6F7"/>
                </a:solidFill>
                <a:latin typeface="Microsoft YaHei"/>
              </a:rPr>
              <a:t>标准产品演示路径｜15 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6984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7AAB4"/>
                </a:solidFill>
                <a:latin typeface="Microsoft YaHei"/>
              </a:rPr>
              <a:t>先给结论，再展示关联，再讲技术；不要从配置页面开始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274320"/>
            <a:ext cx="658368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F3AA2B"/>
                </a:solidFill>
                <a:latin typeface="Microsoft YaHei"/>
              </a:rPr>
              <a:t>19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60704"/>
            <a:ext cx="11265408" cy="0"/>
          </a:xfrm>
          <a:prstGeom prst="line">
            <a:avLst/>
          </a:prstGeom>
          <a:ln w="12700">
            <a:solidFill>
              <a:srgbClr val="334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37960"/>
            <a:ext cx="50292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F838E"/>
                </a:solidFill>
                <a:latin typeface="Microsoft YaHei"/>
              </a:rPr>
              <a:t>人员安全智能运营中心｜销售培训资料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94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6F838E"/>
                </a:solidFill>
                <a:latin typeface="Microsoft YaHei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26463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3AA2B"/>
                </a:solidFill>
                <a:latin typeface="Microsoft YaHei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53312" y="1371600"/>
            <a:ext cx="822960" cy="310896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1408176"/>
            <a:ext cx="74980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28C7B7"/>
                </a:solidFill>
                <a:latin typeface="Microsoft YaHei"/>
              </a:rPr>
              <a:t>2分钟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399031"/>
            <a:ext cx="12801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2F6F7"/>
                </a:solidFill>
                <a:latin typeface="Microsoft YaHei"/>
              </a:rPr>
              <a:t>产品定位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1280160"/>
            <a:ext cx="7315200" cy="530352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33087" y="1426463"/>
            <a:ext cx="68122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7AAB4"/>
                </a:solidFill>
                <a:latin typeface="Microsoft YaHei"/>
              </a:rPr>
              <a:t>一句话说明统一智能入口与六位一体能力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212848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3AA2B"/>
                </a:solidFill>
                <a:latin typeface="Microsoft YaHei"/>
              </a:rP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53312" y="2157984"/>
            <a:ext cx="822960" cy="310896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2194560"/>
            <a:ext cx="74980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28C7B7"/>
                </a:solidFill>
                <a:latin typeface="Microsoft YaHei"/>
              </a:rPr>
              <a:t>3分钟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185415"/>
            <a:ext cx="12801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2F6F7"/>
                </a:solidFill>
                <a:latin typeface="Microsoft YaHei"/>
              </a:rPr>
              <a:t>人员定位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86200" y="2066543"/>
            <a:ext cx="7315200" cy="530352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33087" y="2212848"/>
            <a:ext cx="68122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7AAB4"/>
                </a:solidFill>
                <a:latin typeface="Microsoft YaHei"/>
              </a:rPr>
              <a:t>查询人员位置并在透明三维建筑中显示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999232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3AA2B"/>
                </a:solidFill>
                <a:latin typeface="Microsoft YaHei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53312" y="2944368"/>
            <a:ext cx="822960" cy="310896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2980944"/>
            <a:ext cx="74980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28C7B7"/>
                </a:solidFill>
                <a:latin typeface="Microsoft YaHei"/>
              </a:rPr>
              <a:t>3分钟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2971800"/>
            <a:ext cx="12801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2F6F7"/>
                </a:solidFill>
                <a:latin typeface="Microsoft YaHei"/>
              </a:rPr>
              <a:t>作业合规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86200" y="2852928"/>
            <a:ext cx="7315200" cy="530352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33087" y="2999232"/>
            <a:ext cx="68122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7AAB4"/>
                </a:solidFill>
                <a:latin typeface="Microsoft YaHei"/>
              </a:rPr>
              <a:t>查看作业票、合规结果和违规规则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785615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3AA2B"/>
                </a:solidFill>
                <a:latin typeface="Microsoft YaHei"/>
              </a:rPr>
              <a:t>04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53312" y="3730752"/>
            <a:ext cx="822960" cy="310896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89888" y="3767328"/>
            <a:ext cx="74980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28C7B7"/>
                </a:solidFill>
                <a:latin typeface="Microsoft YaHei"/>
              </a:rPr>
              <a:t>3分钟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3758184"/>
            <a:ext cx="12801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2F6F7"/>
                </a:solidFill>
                <a:latin typeface="Microsoft YaHei"/>
              </a:rPr>
              <a:t>预测维护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86200" y="3639312"/>
            <a:ext cx="7315200" cy="530352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33087" y="3785615"/>
            <a:ext cx="68122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7AAB4"/>
                </a:solidFill>
                <a:latin typeface="Microsoft YaHei"/>
              </a:rPr>
              <a:t>查询离线终端、高风险设备和维护建议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572000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3AA2B"/>
                </a:solidFill>
                <a:latin typeface="Microsoft YaHei"/>
              </a:rPr>
              <a:t>05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53312" y="4517136"/>
            <a:ext cx="822960" cy="310896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9888" y="4553712"/>
            <a:ext cx="74980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28C7B7"/>
                </a:solidFill>
                <a:latin typeface="Microsoft YaHei"/>
              </a:rPr>
              <a:t>2分钟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14600" y="4544568"/>
            <a:ext cx="12801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2F6F7"/>
                </a:solidFill>
                <a:latin typeface="Microsoft YaHei"/>
              </a:rPr>
              <a:t>本地模型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86200" y="4425696"/>
            <a:ext cx="7315200" cy="530352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33087" y="4572000"/>
            <a:ext cx="68122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7AAB4"/>
                </a:solidFill>
                <a:latin typeface="Microsoft YaHei"/>
              </a:rPr>
              <a:t>展示动态工具路由、流式输出和硬件资源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358383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3AA2B"/>
                </a:solidFill>
                <a:latin typeface="Microsoft YaHei"/>
              </a:rPr>
              <a:t>06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353312" y="5303519"/>
            <a:ext cx="822960" cy="310896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89888" y="5340095"/>
            <a:ext cx="74980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28C7B7"/>
                </a:solidFill>
                <a:latin typeface="Microsoft YaHei"/>
              </a:rPr>
              <a:t>2分钟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14600" y="5330951"/>
            <a:ext cx="12801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2F6F7"/>
                </a:solidFill>
                <a:latin typeface="Microsoft YaHei"/>
              </a:rPr>
              <a:t>价值收口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86200" y="5212079"/>
            <a:ext cx="7315200" cy="530352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334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33087" y="5358383"/>
            <a:ext cx="68122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7AAB4"/>
                </a:solidFill>
                <a:latin typeface="Microsoft YaHei"/>
              </a:rPr>
              <a:t>回到客户痛点，确认下一步数据接口调研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10896"/>
            <a:ext cx="73152" cy="438912"/>
          </a:xfrm>
          <a:prstGeom prst="rect">
            <a:avLst/>
          </a:prstGeom>
          <a:solidFill>
            <a:srgbClr val="F3AA2B"/>
          </a:solidFill>
          <a:ln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996696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F2F6F7"/>
                </a:solidFill>
                <a:latin typeface="Microsoft YaHei"/>
              </a:rPr>
              <a:t>常见客户异议与标准回应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6984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7AAB4"/>
                </a:solidFill>
                <a:latin typeface="Microsoft YaHei"/>
              </a:rPr>
              <a:t>回应原则：承认边界、说明机制、给出验证方法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274320"/>
            <a:ext cx="658368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F3AA2B"/>
                </a:solidFill>
                <a:latin typeface="Microsoft YaHei"/>
              </a:rPr>
              <a:t>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60704"/>
            <a:ext cx="11265408" cy="0"/>
          </a:xfrm>
          <a:prstGeom prst="line">
            <a:avLst/>
          </a:prstGeom>
          <a:ln w="12700">
            <a:solidFill>
              <a:srgbClr val="334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37960"/>
            <a:ext cx="50292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F838E"/>
                </a:solidFill>
                <a:latin typeface="Microsoft YaHei"/>
              </a:rPr>
              <a:t>人员安全智能运营中心｜销售培训资料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94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6F838E"/>
                </a:solidFill>
                <a:latin typeface="Microsoft YaHei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280160"/>
            <a:ext cx="3657600" cy="731520"/>
          </a:xfrm>
          <a:prstGeom prst="roundRect">
            <a:avLst/>
          </a:prstGeom>
          <a:solidFill>
            <a:srgbClr val="21191A"/>
          </a:solidFill>
          <a:ln w="12700">
            <a:solidFill>
              <a:srgbClr val="E2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463039"/>
            <a:ext cx="320040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FFB0B0"/>
                </a:solidFill>
                <a:latin typeface="Microsoft YaHei"/>
              </a:rPr>
              <a:t>“我们已经有定位系统了。”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280160"/>
            <a:ext cx="6967728" cy="73152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417319"/>
            <a:ext cx="649224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F2F6F7"/>
                </a:solidFill>
                <a:latin typeface="Microsoft YaHei"/>
              </a:rPr>
              <a:t>平台不替代定位系统，而是关联人员、作业票、门禁、报警和三维态势，释放已有数据价值。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240280"/>
            <a:ext cx="3657600" cy="731520"/>
          </a:xfrm>
          <a:prstGeom prst="roundRect">
            <a:avLst/>
          </a:prstGeom>
          <a:solidFill>
            <a:srgbClr val="21191A"/>
          </a:solidFill>
          <a:ln w="12700">
            <a:solidFill>
              <a:srgbClr val="E2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2423160"/>
            <a:ext cx="320040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FFB0B0"/>
                </a:solidFill>
                <a:latin typeface="Microsoft YaHei"/>
              </a:rPr>
              <a:t>“大模型会不会编造数据？”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2240280"/>
            <a:ext cx="6967728" cy="73152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2377440"/>
            <a:ext cx="649224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F2F6F7"/>
                </a:solidFill>
                <a:latin typeface="Microsoft YaHei"/>
              </a:rPr>
              <a:t>涉及业务数据必须调用接口；无数据明确返回查不到，并通过工具日志和评测体系持续校验。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00400"/>
            <a:ext cx="3657600" cy="731520"/>
          </a:xfrm>
          <a:prstGeom prst="roundRect">
            <a:avLst/>
          </a:prstGeom>
          <a:solidFill>
            <a:srgbClr val="21191A"/>
          </a:solidFill>
          <a:ln w="12700">
            <a:solidFill>
              <a:srgbClr val="E2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3383280"/>
            <a:ext cx="320040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FFB0B0"/>
                </a:solidFill>
                <a:latin typeface="Microsoft YaHei"/>
              </a:rPr>
              <a:t>“敏感数据不能上云。”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3200400"/>
            <a:ext cx="6967728" cy="73152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3337560"/>
            <a:ext cx="649224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F2F6F7"/>
                </a:solidFill>
                <a:latin typeface="Microsoft YaHei"/>
              </a:rPr>
              <a:t>支持本地模型与内网部署，敏感字段最小展示；云端模型可按企业策略关闭。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160520"/>
            <a:ext cx="3657600" cy="731520"/>
          </a:xfrm>
          <a:prstGeom prst="roundRect">
            <a:avLst/>
          </a:prstGeom>
          <a:solidFill>
            <a:srgbClr val="21191A"/>
          </a:solidFill>
          <a:ln w="12700">
            <a:solidFill>
              <a:srgbClr val="E2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343400"/>
            <a:ext cx="320040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FFB0B0"/>
                </a:solidFill>
                <a:latin typeface="Microsoft YaHei"/>
              </a:rPr>
              <a:t>“预测性维护可靠吗？”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4160520"/>
            <a:ext cx="6967728" cy="73152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4297680"/>
            <a:ext cx="649224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F2F6F7"/>
                </a:solidFill>
                <a:latin typeface="Microsoft YaHei"/>
              </a:rPr>
              <a:t>提供趋势、证据、置信度和建议窗口，定位为辅助决策；通过历史数据回测和现场试点验证。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120640"/>
            <a:ext cx="3657600" cy="731520"/>
          </a:xfrm>
          <a:prstGeom prst="roundRect">
            <a:avLst/>
          </a:prstGeom>
          <a:solidFill>
            <a:srgbClr val="21191A"/>
          </a:solidFill>
          <a:ln w="12700">
            <a:solidFill>
              <a:srgbClr val="E2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303520"/>
            <a:ext cx="320040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FFB0B0"/>
                </a:solidFill>
                <a:latin typeface="Microsoft YaHei"/>
              </a:rPr>
              <a:t>“接口太多，本地模型能处理吗？”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80" y="5120640"/>
            <a:ext cx="6967728" cy="73152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5257800"/>
            <a:ext cx="649224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F2F6F7"/>
                </a:solidFill>
                <a:latin typeface="Microsoft YaHei"/>
              </a:rPr>
              <a:t>动态工具路由覆盖全部业务接口，每次只加载相关工具组，降低上下文和误选风险。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10896"/>
            <a:ext cx="73152" cy="438912"/>
          </a:xfrm>
          <a:prstGeom prst="rect">
            <a:avLst/>
          </a:prstGeom>
          <a:solidFill>
            <a:srgbClr val="F3AA2B"/>
          </a:solidFill>
          <a:ln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996696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F2F6F7"/>
                </a:solidFill>
                <a:latin typeface="Microsoft YaHei"/>
              </a:rPr>
              <a:t>产品落地路径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6984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97AAB4"/>
                </a:solidFill>
                <a:latin typeface="Microsoft YaHei"/>
              </a:rPr>
              <a:t>从一个高价值场景切入，逐步扩展数据范围和业务闭环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274320"/>
            <a:ext cx="658368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F3AA2B"/>
                </a:solidFill>
                <a:latin typeface="Microsoft YaHei"/>
              </a:rPr>
              <a:t>21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60704"/>
            <a:ext cx="11265408" cy="0"/>
          </a:xfrm>
          <a:prstGeom prst="line">
            <a:avLst/>
          </a:prstGeom>
          <a:ln w="12700">
            <a:solidFill>
              <a:srgbClr val="334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37960"/>
            <a:ext cx="50292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F838E"/>
                </a:solidFill>
                <a:latin typeface="Microsoft YaHei"/>
              </a:rPr>
              <a:t>人员安全智能运营中心｜销售培训资料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943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6F838E"/>
                </a:solidFill>
                <a:latin typeface="Microsoft YaHei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2560320" cy="352044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91640"/>
            <a:ext cx="5029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3AA2B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212848"/>
            <a:ext cx="214884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2F6F7"/>
                </a:solidFill>
                <a:latin typeface="Microsoft YaHei"/>
              </a:rPr>
              <a:t>场景与数据诊断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063240"/>
            <a:ext cx="2148840" cy="7315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7AAB4"/>
                </a:solidFill>
                <a:latin typeface="Microsoft YaHei"/>
              </a:rPr>
              <a:t>业务访谈｜接口盘点｜指标基线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4315968"/>
            <a:ext cx="1005840" cy="310896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4352544"/>
            <a:ext cx="93268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F3AA2B"/>
                </a:solidFill>
                <a:latin typeface="Microsoft YaHei"/>
              </a:rPr>
              <a:t>2–4周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38144" y="1417320"/>
            <a:ext cx="2560320" cy="352044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9312" y="1691640"/>
            <a:ext cx="5029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8C7B7"/>
                </a:solidFill>
                <a:latin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2212848"/>
            <a:ext cx="214884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2F6F7"/>
                </a:solidFill>
                <a:latin typeface="Microsoft YaHei"/>
              </a:rPr>
              <a:t>重点场景上线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3063240"/>
            <a:ext cx="2148840" cy="7315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7AAB4"/>
                </a:solidFill>
                <a:latin typeface="Microsoft YaHei"/>
              </a:rPr>
              <a:t>人员定位｜作业合规｜重点设备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39312" y="4315968"/>
            <a:ext cx="1005840" cy="310896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5888" y="4352544"/>
            <a:ext cx="93268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28C7B7"/>
                </a:solidFill>
                <a:latin typeface="Microsoft YaHei"/>
              </a:rPr>
              <a:t>4–8周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1417320"/>
            <a:ext cx="2560320" cy="352044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4DA9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28816" y="1691640"/>
            <a:ext cx="5029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4DA9D7"/>
                </a:solidFill>
                <a:latin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8816" y="2212848"/>
            <a:ext cx="214884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2F6F7"/>
                </a:solidFill>
                <a:latin typeface="Microsoft YaHei"/>
              </a:rPr>
              <a:t>系统与流程贯通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3063240"/>
            <a:ext cx="2148840" cy="7315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7AAB4"/>
                </a:solidFill>
                <a:latin typeface="Microsoft YaHei"/>
              </a:rPr>
              <a:t>权限审计｜工单闭环｜多系统关联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28816" y="4315968"/>
            <a:ext cx="1005840" cy="310896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4DA9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4352544"/>
            <a:ext cx="93268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4DA9D7"/>
                </a:solidFill>
                <a:latin typeface="Microsoft YaHei"/>
              </a:rPr>
              <a:t>按范围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17152" y="1417320"/>
            <a:ext cx="2560320" cy="352044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49C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1691640"/>
            <a:ext cx="5029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49C486"/>
                </a:solidFill>
                <a:latin typeface="Microsoft YaHe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2212848"/>
            <a:ext cx="2148840" cy="53035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2F6F7"/>
                </a:solidFill>
                <a:latin typeface="Microsoft YaHei"/>
              </a:rPr>
              <a:t>规模化运营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3063240"/>
            <a:ext cx="2148840" cy="7315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7AAB4"/>
                </a:solidFill>
                <a:latin typeface="Microsoft YaHei"/>
              </a:rPr>
              <a:t>多厂区复制｜模型评测｜持续优化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18320" y="4315968"/>
            <a:ext cx="1005840" cy="310896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49C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54896" y="4352544"/>
            <a:ext cx="93268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49C486"/>
                </a:solidFill>
                <a:latin typeface="Microsoft YaHei"/>
              </a:rPr>
              <a:t>持续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532120"/>
            <a:ext cx="1083564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3AA2B"/>
                </a:solidFill>
                <a:latin typeface="Microsoft YaHei"/>
              </a:rPr>
              <a:t>推荐切入：高风险作业人员态势 或 重点设备预测性维护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3AA2B"/>
          </a:solidFill>
          <a:ln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97280"/>
            <a:ext cx="731520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2F6F7"/>
                </a:solidFill>
                <a:latin typeface="Microsoft YaHei"/>
              </a:rPr>
              <a:t>人员安全智能运营中心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965960"/>
            <a:ext cx="85039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F3AA2B"/>
                </a:solidFill>
                <a:latin typeface="Microsoft YaHei"/>
              </a:rPr>
              <a:t>让人员安全看得见，让设备风险早发现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6949440" cy="10058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0">
                <a:solidFill>
                  <a:srgbClr val="C1D0D6"/>
                </a:solidFill>
                <a:latin typeface="Microsoft YaHei"/>
              </a:rPr>
              <a:t>连接人、地、票、警、设备与生产
以可信数据驱动工业现场安全运营升级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1143000"/>
            <a:ext cx="2377440" cy="2377440"/>
          </a:xfrm>
          <a:prstGeom prst="roundRect">
            <a:avLst/>
          </a:prstGeom>
          <a:solidFill>
            <a:srgbClr val="121D26"/>
          </a:solidFill>
          <a:ln w="12700">
            <a:solidFill>
              <a:srgbClr val="2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88552" y="1554480"/>
            <a:ext cx="150876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8C7B7"/>
                </a:solidFill>
                <a:latin typeface="Microsoft YaHei"/>
              </a:rPr>
              <a:t>下一步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1392" y="2148840"/>
            <a:ext cx="1783080" cy="9144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2F6F7"/>
                </a:solidFill>
                <a:latin typeface="Microsoft YaHei"/>
              </a:rPr>
              <a:t>选择一个场景
完成一次数据诊断
验证一项业务价值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983480"/>
            <a:ext cx="3246120" cy="310896"/>
          </a:xfrm>
          <a:prstGeom prst="roundRect">
            <a:avLst/>
          </a:prstGeom>
          <a:solidFill>
            <a:srgbClr val="172631"/>
          </a:solidFill>
          <a:ln w="12700">
            <a:solidFill>
              <a:srgbClr val="F3A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5020056"/>
            <a:ext cx="317296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F3AA2B"/>
                </a:solidFill>
                <a:latin typeface="Microsoft YaHei"/>
              </a:rPr>
              <a:t>工业智能 · 安全运营 · 预测维护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6080760"/>
            <a:ext cx="18288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07985"/>
                </a:solidFill>
                <a:latin typeface="Microsoft YaHe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人员安全智能运营中心｜工业产品销售培训</dc:title>
  <dc:subject>面向工业企业的人员安全、设备运维与智能运营平台</dc:subject>
  <dc:creator>人员安全智能运营中心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